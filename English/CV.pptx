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1" r:id="rId1"/>
  </p:sldMasterIdLst>
  <p:sldIdLst>
    <p:sldId id="256" r:id="rId2"/>
    <p:sldId id="257" r:id="rId3"/>
    <p:sldId id="258"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3B5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25" d="100"/>
          <a:sy n="125" d="100"/>
        </p:scale>
        <p:origin x="2130"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6858000" cy="990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39471" y="1112897"/>
            <a:ext cx="6065044" cy="4842933"/>
          </a:xfrm>
        </p:spPr>
        <p:txBody>
          <a:bodyPr anchor="b">
            <a:noAutofit/>
          </a:bodyPr>
          <a:lstStyle>
            <a:lvl1pPr algn="l">
              <a:lnSpc>
                <a:spcPct val="80000"/>
              </a:lnSpc>
              <a:defRPr sz="6000" spc="-9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375476" y="6064369"/>
            <a:ext cx="5190863" cy="2377440"/>
          </a:xfrm>
        </p:spPr>
        <p:txBody>
          <a:bodyPr>
            <a:normAutofit/>
          </a:bodyPr>
          <a:lstStyle>
            <a:lvl1pPr marL="0" indent="0" algn="l">
              <a:buNone/>
              <a:defRPr sz="2100">
                <a:solidFill>
                  <a:schemeClr val="bg1"/>
                </a:solidFill>
                <a:latin typeface="+mj-lt"/>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fld id="{64A32902-01AF-440E-9C03-193C4F014EE4}" type="datetimeFigureOut">
              <a:rPr lang="en-US" smtClean="0"/>
              <a:t>6/9/2026</a:t>
            </a:fld>
            <a:endParaRPr lang="en-US"/>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7B58C854-9647-4660-9411-6F540262039D}" type="slidenum">
              <a:rPr lang="en-US" smtClean="0"/>
              <a:t>‹#›</a:t>
            </a:fld>
            <a:endParaRPr lang="en-US"/>
          </a:p>
        </p:txBody>
      </p:sp>
    </p:spTree>
    <p:extLst>
      <p:ext uri="{BB962C8B-B14F-4D97-AF65-F5344CB8AC3E}">
        <p14:creationId xmlns:p14="http://schemas.microsoft.com/office/powerpoint/2010/main" val="2528792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A32902-01AF-440E-9C03-193C4F014EE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8C854-9647-4660-9411-6F540262039D}" type="slidenum">
              <a:rPr lang="en-US" smtClean="0"/>
              <a:t>‹#›</a:t>
            </a:fld>
            <a:endParaRPr lang="en-US"/>
          </a:p>
        </p:txBody>
      </p:sp>
    </p:spTree>
    <p:extLst>
      <p:ext uri="{BB962C8B-B14F-4D97-AF65-F5344CB8AC3E}">
        <p14:creationId xmlns:p14="http://schemas.microsoft.com/office/powerpoint/2010/main" val="126322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9471" y="1108494"/>
            <a:ext cx="6064187" cy="4847336"/>
          </a:xfrm>
        </p:spPr>
        <p:txBody>
          <a:bodyPr anchor="b">
            <a:normAutofit/>
          </a:bodyPr>
          <a:lstStyle>
            <a:lvl1pPr>
              <a:lnSpc>
                <a:spcPct val="80000"/>
              </a:lnSpc>
              <a:defRPr sz="60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375475" y="6048286"/>
            <a:ext cx="5189792" cy="2377440"/>
          </a:xfrm>
        </p:spPr>
        <p:txBody>
          <a:bodyPr anchor="t">
            <a:normAutofit/>
          </a:bodyPr>
          <a:lstStyle>
            <a:lvl1pPr marL="0" indent="0">
              <a:buNone/>
              <a:defRPr sz="2100">
                <a:solidFill>
                  <a:schemeClr val="tx1"/>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A32902-01AF-440E-9C03-193C4F014EE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8C854-9647-4660-9411-6F540262039D}" type="slidenum">
              <a:rPr lang="en-US" smtClean="0"/>
              <a:t>‹#›</a:t>
            </a:fld>
            <a:endParaRPr lang="en-US"/>
          </a:p>
        </p:txBody>
      </p:sp>
    </p:spTree>
    <p:extLst>
      <p:ext uri="{BB962C8B-B14F-4D97-AF65-F5344CB8AC3E}">
        <p14:creationId xmlns:p14="http://schemas.microsoft.com/office/powerpoint/2010/main" val="3643184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0619" y="2879344"/>
            <a:ext cx="2854643" cy="5441696"/>
          </a:xfrm>
        </p:spPr>
        <p:txBody>
          <a:bodyPr/>
          <a:lstStyle>
            <a:lvl1pPr>
              <a:defRPr sz="1650"/>
            </a:lvl1pPr>
            <a:lvl2pPr>
              <a:defRPr sz="1425"/>
            </a:lvl2pPr>
            <a:lvl3pPr>
              <a:defRPr sz="1275"/>
            </a:lvl3pPr>
            <a:lvl4pPr>
              <a:defRPr sz="1125"/>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568303" y="2879344"/>
            <a:ext cx="2854643" cy="5441696"/>
          </a:xfrm>
        </p:spPr>
        <p:txBody>
          <a:bodyPr/>
          <a:lstStyle>
            <a:lvl1pPr>
              <a:defRPr sz="1650"/>
            </a:lvl1pPr>
            <a:lvl2pPr>
              <a:defRPr sz="1425"/>
            </a:lvl2pPr>
            <a:lvl3pPr>
              <a:defRPr sz="1275"/>
            </a:lvl3pPr>
            <a:lvl4pPr>
              <a:defRPr sz="1125"/>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A32902-01AF-440E-9C03-193C4F014EE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58C854-9647-4660-9411-6F540262039D}" type="slidenum">
              <a:rPr lang="en-US" smtClean="0"/>
              <a:t>‹#›</a:t>
            </a:fld>
            <a:endParaRPr lang="en-US"/>
          </a:p>
        </p:txBody>
      </p:sp>
    </p:spTree>
    <p:extLst>
      <p:ext uri="{BB962C8B-B14F-4D97-AF65-F5344CB8AC3E}">
        <p14:creationId xmlns:p14="http://schemas.microsoft.com/office/powerpoint/2010/main" val="1705885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0619" y="2935111"/>
            <a:ext cx="2854643" cy="1044911"/>
          </a:xfrm>
        </p:spPr>
        <p:txBody>
          <a:bodyPr anchor="ctr">
            <a:normAutofit/>
          </a:bodyPr>
          <a:lstStyle>
            <a:lvl1pPr marL="0" indent="0">
              <a:spcBef>
                <a:spcPts val="0"/>
              </a:spcBef>
              <a:buNone/>
              <a:defRPr sz="1500" b="0" cap="all" baseline="0">
                <a:solidFill>
                  <a:schemeClr val="tx1">
                    <a:lumMod val="85000"/>
                    <a:lumOff val="15000"/>
                  </a:schemeClr>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380619" y="3952217"/>
            <a:ext cx="2854643" cy="4622800"/>
          </a:xfrm>
        </p:spPr>
        <p:txBody>
          <a:bodyPr/>
          <a:lstStyle>
            <a:lvl1pPr>
              <a:defRPr sz="1575"/>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574732" y="2932176"/>
            <a:ext cx="2854643" cy="1043432"/>
          </a:xfrm>
        </p:spPr>
        <p:txBody>
          <a:bodyPr anchor="ctr">
            <a:normAutofit/>
          </a:bodyPr>
          <a:lstStyle>
            <a:lvl1pPr marL="0" indent="0">
              <a:spcBef>
                <a:spcPts val="0"/>
              </a:spcBef>
              <a:buNone/>
              <a:defRPr sz="1500" b="0" cap="all" baseline="0">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574732" y="3949192"/>
            <a:ext cx="2854643" cy="4622800"/>
          </a:xfrm>
        </p:spPr>
        <p:txBody>
          <a:bodyPr/>
          <a:lstStyle>
            <a:lvl1pPr>
              <a:defRPr sz="1575"/>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A32902-01AF-440E-9C03-193C4F014EE4}"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58C854-9647-4660-9411-6F540262039D}" type="slidenum">
              <a:rPr lang="en-US" smtClean="0"/>
              <a:t>‹#›</a:t>
            </a:fld>
            <a:endParaRPr lang="en-US"/>
          </a:p>
        </p:txBody>
      </p:sp>
    </p:spTree>
    <p:extLst>
      <p:ext uri="{BB962C8B-B14F-4D97-AF65-F5344CB8AC3E}">
        <p14:creationId xmlns:p14="http://schemas.microsoft.com/office/powerpoint/2010/main" val="2476124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A32902-01AF-440E-9C03-193C4F014EE4}"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58C854-9647-4660-9411-6F540262039D}" type="slidenum">
              <a:rPr lang="en-US" smtClean="0"/>
              <a:t>‹#›</a:t>
            </a:fld>
            <a:endParaRPr lang="en-US"/>
          </a:p>
        </p:txBody>
      </p:sp>
    </p:spTree>
    <p:extLst>
      <p:ext uri="{BB962C8B-B14F-4D97-AF65-F5344CB8AC3E}">
        <p14:creationId xmlns:p14="http://schemas.microsoft.com/office/powerpoint/2010/main" val="2200876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A32902-01AF-440E-9C03-193C4F014EE4}"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58C854-9647-4660-9411-6F540262039D}" type="slidenum">
              <a:rPr lang="en-US" smtClean="0"/>
              <a:t>‹#›</a:t>
            </a:fld>
            <a:endParaRPr lang="en-US"/>
          </a:p>
        </p:txBody>
      </p:sp>
    </p:spTree>
    <p:extLst>
      <p:ext uri="{BB962C8B-B14F-4D97-AF65-F5344CB8AC3E}">
        <p14:creationId xmlns:p14="http://schemas.microsoft.com/office/powerpoint/2010/main" val="77635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4286250" y="0"/>
            <a:ext cx="2571750" cy="990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4647040" y="783296"/>
            <a:ext cx="1903095" cy="2773680"/>
          </a:xfrm>
        </p:spPr>
        <p:txBody>
          <a:bodyPr anchor="b">
            <a:noAutofit/>
          </a:bodyPr>
          <a:lstStyle>
            <a:lvl1pPr>
              <a:lnSpc>
                <a:spcPct val="85000"/>
              </a:lnSpc>
              <a:defRPr sz="27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28625" y="1100667"/>
            <a:ext cx="3429000" cy="6604000"/>
          </a:xfrm>
        </p:spPr>
        <p:txBody>
          <a:bodyPr/>
          <a:lstStyle>
            <a:lvl1pPr>
              <a:defRPr sz="1650"/>
            </a:lvl1pPr>
            <a:lvl2pPr>
              <a:defRPr sz="1425"/>
            </a:lvl2pPr>
            <a:lvl3pPr>
              <a:defRPr sz="1275"/>
            </a:lvl3pPr>
            <a:lvl4pPr>
              <a:defRPr sz="1125"/>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655240" y="3628175"/>
            <a:ext cx="1911668" cy="4516759"/>
          </a:xfrm>
        </p:spPr>
        <p:txBody>
          <a:bodyPr>
            <a:normAutofit/>
          </a:bodyPr>
          <a:lstStyle>
            <a:lvl1pPr marL="0" marR="0" indent="0" algn="l" defTabSz="685800" rtl="0" eaLnBrk="1" fontAlgn="auto" latinLnBrk="0" hangingPunct="1">
              <a:lnSpc>
                <a:spcPct val="100000"/>
              </a:lnSpc>
              <a:spcBef>
                <a:spcPts val="900"/>
              </a:spcBef>
              <a:spcAft>
                <a:spcPts val="0"/>
              </a:spcAft>
              <a:buClrTx/>
              <a:buSzTx/>
              <a:buFontTx/>
              <a:buNone/>
              <a:tabLst/>
              <a:defRPr sz="1125">
                <a:solidFill>
                  <a:srgbClr val="404040"/>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marR="0" lvl="0" indent="0" algn="l" defTabSz="685800" rtl="0" eaLnBrk="1" fontAlgn="auto" latinLnBrk="0" hangingPunct="1">
              <a:lnSpc>
                <a:spcPct val="100000"/>
              </a:lnSpc>
              <a:spcBef>
                <a:spcPts val="105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64A32902-01AF-440E-9C03-193C4F014EE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7B58C854-9647-4660-9411-6F540262039D}" type="slidenum">
              <a:rPr lang="en-US" smtClean="0"/>
              <a:t>‹#›</a:t>
            </a:fld>
            <a:endParaRPr lang="en-US"/>
          </a:p>
        </p:txBody>
      </p:sp>
    </p:spTree>
    <p:extLst>
      <p:ext uri="{BB962C8B-B14F-4D97-AF65-F5344CB8AC3E}">
        <p14:creationId xmlns:p14="http://schemas.microsoft.com/office/powerpoint/2010/main" val="668576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188" y="7826966"/>
            <a:ext cx="6064187" cy="885853"/>
          </a:xfrm>
        </p:spPr>
        <p:txBody>
          <a:bodyPr anchor="b">
            <a:normAutofit/>
          </a:bodyPr>
          <a:lstStyle>
            <a:lvl1pPr>
              <a:lnSpc>
                <a:spcPct val="85000"/>
              </a:lnSpc>
              <a:defRPr sz="21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858000" cy="7700264"/>
          </a:xfrm>
          <a:solidFill>
            <a:schemeClr val="accent1">
              <a:lumMod val="20000"/>
              <a:lumOff val="80000"/>
            </a:schemeClr>
          </a:solidFill>
        </p:spPr>
        <p:txBody>
          <a:bodyPr anchor="t"/>
          <a:lstStyle>
            <a:lvl1pPr marL="0" indent="0" algn="ctr">
              <a:spcBef>
                <a:spcPts val="600"/>
              </a:spcBef>
              <a:buNone/>
              <a:defRPr sz="2400">
                <a:solidFill>
                  <a:srgbClr val="4D4D4D"/>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380619" y="8536284"/>
            <a:ext cx="5191506" cy="770467"/>
          </a:xfrm>
        </p:spPr>
        <p:txBody>
          <a:bodyPr>
            <a:normAutofit/>
          </a:bodyPr>
          <a:lstStyle>
            <a:lvl1pPr marL="0" indent="0">
              <a:lnSpc>
                <a:spcPct val="90000"/>
              </a:lnSpc>
              <a:spcBef>
                <a:spcPts val="900"/>
              </a:spcBef>
              <a:buNone/>
              <a:defRPr sz="1050">
                <a:solidFill>
                  <a:srgbClr val="262626"/>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alpha val="75000"/>
                  </a:srgbClr>
                </a:solidFill>
              </a:defRPr>
            </a:lvl1pPr>
          </a:lstStyle>
          <a:p>
            <a:fld id="{64A32902-01AF-440E-9C03-193C4F014EE4}" type="datetimeFigureOut">
              <a:rPr lang="en-US" smtClean="0"/>
              <a:t>6/9/2026</a:t>
            </a:fld>
            <a:endParaRPr lang="en-US"/>
          </a:p>
        </p:txBody>
      </p:sp>
      <p:sp>
        <p:nvSpPr>
          <p:cNvPr id="6" name="Footer Placeholder 5"/>
          <p:cNvSpPr>
            <a:spLocks noGrp="1"/>
          </p:cNvSpPr>
          <p:nvPr>
            <p:ph type="ftr" sz="quarter" idx="11"/>
          </p:nvPr>
        </p:nvSpPr>
        <p:spPr/>
        <p:txBody>
          <a:bodyPr/>
          <a:lstStyle>
            <a:lvl1pPr>
              <a:defRPr>
                <a:solidFill>
                  <a:srgbClr val="FFFFFF">
                    <a:alpha val="75000"/>
                  </a:srgb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7B58C854-9647-4660-9411-6F540262039D}" type="slidenum">
              <a:rPr lang="en-US" smtClean="0"/>
              <a:t>‹#›</a:t>
            </a:fld>
            <a:endParaRPr lang="en-US"/>
          </a:p>
        </p:txBody>
      </p:sp>
    </p:spTree>
    <p:extLst>
      <p:ext uri="{BB962C8B-B14F-4D97-AF65-F5344CB8AC3E}">
        <p14:creationId xmlns:p14="http://schemas.microsoft.com/office/powerpoint/2010/main" val="34578433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A32902-01AF-440E-9C03-193C4F014EE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8C854-9647-4660-9411-6F540262039D}" type="slidenum">
              <a:rPr lang="en-US" smtClean="0"/>
              <a:t>‹#›</a:t>
            </a:fld>
            <a:endParaRPr lang="en-US"/>
          </a:p>
        </p:txBody>
      </p:sp>
    </p:spTree>
    <p:extLst>
      <p:ext uri="{BB962C8B-B14F-4D97-AF65-F5344CB8AC3E}">
        <p14:creationId xmlns:p14="http://schemas.microsoft.com/office/powerpoint/2010/main" val="3919112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18473" y="1004358"/>
            <a:ext cx="1478756" cy="6934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33983" y="1031877"/>
            <a:ext cx="4350544" cy="7800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A32902-01AF-440E-9C03-193C4F014EE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8C854-9647-4660-9411-6F540262039D}" type="slidenum">
              <a:rPr lang="en-US" smtClean="0"/>
              <a:t>‹#›</a:t>
            </a:fld>
            <a:endParaRPr lang="en-US"/>
          </a:p>
        </p:txBody>
      </p:sp>
    </p:spTree>
    <p:extLst>
      <p:ext uri="{BB962C8B-B14F-4D97-AF65-F5344CB8AC3E}">
        <p14:creationId xmlns:p14="http://schemas.microsoft.com/office/powerpoint/2010/main" val="184302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9690" y="721548"/>
            <a:ext cx="6059686" cy="239517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0404" y="2879346"/>
            <a:ext cx="6048971" cy="54400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5763" y="9262423"/>
            <a:ext cx="2314575" cy="330200"/>
          </a:xfrm>
          <a:prstGeom prst="rect">
            <a:avLst/>
          </a:prstGeom>
        </p:spPr>
        <p:txBody>
          <a:bodyPr vert="horz" lIns="91440" tIns="45720" rIns="91440" bIns="45720" rtlCol="0" anchor="ctr"/>
          <a:lstStyle>
            <a:lvl1pPr algn="l">
              <a:defRPr sz="713">
                <a:solidFill>
                  <a:schemeClr val="tx1">
                    <a:alpha val="75000"/>
                  </a:schemeClr>
                </a:solidFill>
              </a:defRPr>
            </a:lvl1pPr>
          </a:lstStyle>
          <a:p>
            <a:fld id="{64A32902-01AF-440E-9C03-193C4F014EE4}" type="datetimeFigureOut">
              <a:rPr lang="en-US" smtClean="0"/>
              <a:t>6/9/2026</a:t>
            </a:fld>
            <a:endParaRPr lang="en-US"/>
          </a:p>
        </p:txBody>
      </p:sp>
      <p:sp>
        <p:nvSpPr>
          <p:cNvPr id="5" name="Footer Placeholder 4"/>
          <p:cNvSpPr>
            <a:spLocks noGrp="1"/>
          </p:cNvSpPr>
          <p:nvPr>
            <p:ph type="ftr" sz="quarter" idx="3"/>
          </p:nvPr>
        </p:nvSpPr>
        <p:spPr>
          <a:xfrm>
            <a:off x="385763" y="9467896"/>
            <a:ext cx="2828925" cy="330200"/>
          </a:xfrm>
          <a:prstGeom prst="rect">
            <a:avLst/>
          </a:prstGeom>
        </p:spPr>
        <p:txBody>
          <a:bodyPr vert="horz" lIns="91440" tIns="45720" rIns="91440" bIns="45720" rtlCol="0" anchor="ctr"/>
          <a:lstStyle>
            <a:lvl1pPr algn="l">
              <a:defRPr sz="713" cap="all" baseline="0">
                <a:solidFill>
                  <a:schemeClr val="tx1">
                    <a:alpha val="75000"/>
                  </a:schemeClr>
                </a:solidFill>
              </a:defRPr>
            </a:lvl1pPr>
          </a:lstStyle>
          <a:p>
            <a:endParaRPr lang="en-US"/>
          </a:p>
        </p:txBody>
      </p:sp>
      <p:sp>
        <p:nvSpPr>
          <p:cNvPr id="6" name="Slide Number Placeholder 5"/>
          <p:cNvSpPr>
            <a:spLocks noGrp="1"/>
          </p:cNvSpPr>
          <p:nvPr>
            <p:ph type="sldNum" sz="quarter" idx="4"/>
          </p:nvPr>
        </p:nvSpPr>
        <p:spPr>
          <a:xfrm>
            <a:off x="4905895" y="8420748"/>
            <a:ext cx="1645920" cy="2017945"/>
          </a:xfrm>
          <a:prstGeom prst="rect">
            <a:avLst/>
          </a:prstGeom>
        </p:spPr>
        <p:txBody>
          <a:bodyPr vert="horz" lIns="91440" tIns="45720" rIns="91440" bIns="45720" rtlCol="0" anchor="b"/>
          <a:lstStyle>
            <a:lvl1pPr algn="r">
              <a:defRPr sz="6750" b="0">
                <a:ln>
                  <a:noFill/>
                </a:ln>
                <a:solidFill>
                  <a:schemeClr val="accent1">
                    <a:alpha val="20000"/>
                  </a:schemeClr>
                </a:solidFill>
                <a:latin typeface="+mj-lt"/>
              </a:defRPr>
            </a:lvl1pPr>
          </a:lstStyle>
          <a:p>
            <a:fld id="{7B58C854-9647-4660-9411-6F540262039D}" type="slidenum">
              <a:rPr lang="en-US" smtClean="0"/>
              <a:t>‹#›</a:t>
            </a:fld>
            <a:endParaRPr lang="en-US"/>
          </a:p>
        </p:txBody>
      </p:sp>
    </p:spTree>
    <p:extLst>
      <p:ext uri="{BB962C8B-B14F-4D97-AF65-F5344CB8AC3E}">
        <p14:creationId xmlns:p14="http://schemas.microsoft.com/office/powerpoint/2010/main" val="2456373362"/>
      </p:ext>
    </p:extLst>
  </p:cSld>
  <p:clrMap bg1="lt1" tx1="dk1" bg2="lt2" tx2="dk2" accent1="accent1" accent2="accent2" accent3="accent3" accent4="accent4" accent5="accent5" accent6="accent6" hlink="hlink" folHlink="folHlink"/>
  <p:sldLayoutIdLst>
    <p:sldLayoutId id="2147484062" r:id="rId1"/>
    <p:sldLayoutId id="2147484063" r:id="rId2"/>
    <p:sldLayoutId id="2147484064" r:id="rId3"/>
    <p:sldLayoutId id="2147484065" r:id="rId4"/>
    <p:sldLayoutId id="2147484066" r:id="rId5"/>
    <p:sldLayoutId id="2147484067" r:id="rId6"/>
    <p:sldLayoutId id="2147484068" r:id="rId7"/>
    <p:sldLayoutId id="2147484069" r:id="rId8"/>
    <p:sldLayoutId id="2147484070" r:id="rId9"/>
    <p:sldLayoutId id="2147484071" r:id="rId10"/>
    <p:sldLayoutId id="2147484072" r:id="rId11"/>
  </p:sldLayoutIdLst>
  <p:txStyles>
    <p:titleStyle>
      <a:lvl1pPr algn="l" defTabSz="685800" rtl="0" eaLnBrk="1" latinLnBrk="0" hangingPunct="1">
        <a:lnSpc>
          <a:spcPct val="90000"/>
        </a:lnSpc>
        <a:spcBef>
          <a:spcPct val="0"/>
        </a:spcBef>
        <a:buNone/>
        <a:defRPr sz="3600" kern="1200" spc="-90" baseline="0">
          <a:solidFill>
            <a:schemeClr val="accent1"/>
          </a:solidFill>
          <a:latin typeface="+mj-lt"/>
          <a:ea typeface="+mj-ea"/>
          <a:cs typeface="+mj-cs"/>
        </a:defRPr>
      </a:lvl1pPr>
    </p:titleStyle>
    <p:bodyStyle>
      <a:lvl1pPr marL="68580" indent="-68580" algn="l" defTabSz="685800" rtl="0" eaLnBrk="1" latinLnBrk="0" hangingPunct="1">
        <a:lnSpc>
          <a:spcPct val="85000"/>
        </a:lnSpc>
        <a:spcBef>
          <a:spcPts val="975"/>
        </a:spcBef>
        <a:buFont typeface="Arial" pitchFamily="34" charset="0"/>
        <a:buChar char=" "/>
        <a:defRPr sz="1800" kern="1200">
          <a:solidFill>
            <a:schemeClr val="tx1">
              <a:lumMod val="85000"/>
              <a:lumOff val="15000"/>
            </a:schemeClr>
          </a:solidFill>
          <a:latin typeface="+mn-lt"/>
          <a:ea typeface="+mn-ea"/>
          <a:cs typeface="+mn-cs"/>
        </a:defRPr>
      </a:lvl1pPr>
      <a:lvl2pPr marL="205740" indent="-257175" algn="l" defTabSz="685800" rtl="0" eaLnBrk="1" latinLnBrk="0" hangingPunct="1">
        <a:lnSpc>
          <a:spcPct val="85000"/>
        </a:lnSpc>
        <a:spcBef>
          <a:spcPts val="450"/>
        </a:spcBef>
        <a:buFont typeface="Arial" pitchFamily="34" charset="0"/>
        <a:buChar char=" "/>
        <a:defRPr sz="1800" kern="1200">
          <a:solidFill>
            <a:schemeClr val="tx1">
              <a:lumMod val="85000"/>
              <a:lumOff val="15000"/>
            </a:schemeClr>
          </a:solidFill>
          <a:latin typeface="+mn-lt"/>
          <a:ea typeface="+mn-ea"/>
          <a:cs typeface="+mn-cs"/>
        </a:defRPr>
      </a:lvl2pPr>
      <a:lvl3pPr marL="411480" indent="-411480" algn="l" defTabSz="685800" rtl="0" eaLnBrk="1" latinLnBrk="0" hangingPunct="1">
        <a:lnSpc>
          <a:spcPct val="85000"/>
        </a:lnSpc>
        <a:spcBef>
          <a:spcPts val="450"/>
        </a:spcBef>
        <a:buFont typeface="Arial" pitchFamily="34" charset="0"/>
        <a:buChar char=" "/>
        <a:defRPr sz="1500" i="1" kern="1200">
          <a:solidFill>
            <a:schemeClr val="tx1">
              <a:lumMod val="85000"/>
              <a:lumOff val="15000"/>
            </a:schemeClr>
          </a:solidFill>
          <a:latin typeface="+mn-lt"/>
          <a:ea typeface="+mn-ea"/>
          <a:cs typeface="+mn-cs"/>
        </a:defRPr>
      </a:lvl3pPr>
      <a:lvl4pPr marL="617220" indent="-61722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4pPr>
      <a:lvl5pPr marL="822960" indent="-82296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5pPr>
      <a:lvl6pPr marL="90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6pPr>
      <a:lvl7pPr marL="105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7pPr>
      <a:lvl8pPr marL="120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8pPr>
      <a:lvl9pPr marL="135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Mehrdad386/Traffic-Escape-.git" TargetMode="External"/><Relationship Id="rId7" Type="http://schemas.openxmlformats.org/officeDocument/2006/relationships/hyperlink" Target="https://github.com/Mehrdad386/Vending-Machine.git" TargetMode="External"/><Relationship Id="rId2" Type="http://schemas.openxmlformats.org/officeDocument/2006/relationships/hyperlink" Target="https://github.com/Mehrdad386/Wood-Nuts-and-Bolts-Puzzle.git" TargetMode="External"/><Relationship Id="rId1" Type="http://schemas.openxmlformats.org/officeDocument/2006/relationships/slideLayout" Target="../slideLayouts/slideLayout2.xml"/><Relationship Id="rId6" Type="http://schemas.openxmlformats.org/officeDocument/2006/relationships/hyperlink" Target="https://github.com/Mehrdad386/Uni_Shop.git" TargetMode="External"/><Relationship Id="rId5" Type="http://schemas.openxmlformats.org/officeDocument/2006/relationships/hyperlink" Target="https://github.com/Mehrdad386/Final-Fight.git" TargetMode="External"/><Relationship Id="rId4" Type="http://schemas.openxmlformats.org/officeDocument/2006/relationships/hyperlink" Target="https://github.com/Mehrdad386/Rakab.git"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Mehrdad386/Heap_Allocater.git" TargetMode="External"/><Relationship Id="rId2" Type="http://schemas.openxmlformats.org/officeDocument/2006/relationships/hyperlink" Target="https://github.com/Mehrdad386/Data-Structure" TargetMode="External"/><Relationship Id="rId1" Type="http://schemas.openxmlformats.org/officeDocument/2006/relationships/slideLayout" Target="../slideLayouts/slideLayout2.xml"/><Relationship Id="rId5" Type="http://schemas.openxmlformats.org/officeDocument/2006/relationships/hyperlink" Target="https://github.com/Mehrdad386/DBMS-Storage-Manager.git" TargetMode="External"/><Relationship Id="rId4" Type="http://schemas.openxmlformats.org/officeDocument/2006/relationships/hyperlink" Target="https://github.com/Mehrdad386/10-Python-project.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Text Placeholder 14">
            <a:extLst>
              <a:ext uri="{FF2B5EF4-FFF2-40B4-BE49-F238E27FC236}">
                <a16:creationId xmlns:a16="http://schemas.microsoft.com/office/drawing/2014/main" id="{7DEAB1D2-7019-4B16-873A-D9D557E5CBB4}"/>
              </a:ext>
            </a:extLst>
          </p:cNvPr>
          <p:cNvSpPr txBox="1">
            <a:spLocks/>
          </p:cNvSpPr>
          <p:nvPr/>
        </p:nvSpPr>
        <p:spPr>
          <a:xfrm>
            <a:off x="4883991" y="223598"/>
            <a:ext cx="1911668" cy="480275"/>
          </a:xfrm>
          <a:prstGeom prst="rect">
            <a:avLst/>
          </a:prstGeom>
        </p:spPr>
        <p:txBody>
          <a:bodyPr vert="horz" lIns="91440" tIns="45720" rIns="91440" bIns="45720" rtlCol="0">
            <a:normAutofit/>
          </a:bodyPr>
          <a:lstStyle>
            <a:lvl1pPr marL="0" marR="0" indent="0" algn="l" defTabSz="685800" rtl="0" eaLnBrk="1" fontAlgn="auto" latinLnBrk="0" hangingPunct="1">
              <a:lnSpc>
                <a:spcPct val="100000"/>
              </a:lnSpc>
              <a:spcBef>
                <a:spcPts val="900"/>
              </a:spcBef>
              <a:spcAft>
                <a:spcPts val="0"/>
              </a:spcAft>
              <a:buClrTx/>
              <a:buSzTx/>
              <a:buFontTx/>
              <a:buNone/>
              <a:tabLst/>
              <a:defRPr sz="1125" kern="1200">
                <a:solidFill>
                  <a:srgbClr val="404040"/>
                </a:solidFill>
                <a:latin typeface="+mn-lt"/>
                <a:ea typeface="+mn-ea"/>
                <a:cs typeface="+mn-cs"/>
              </a:defRPr>
            </a:lvl1pPr>
            <a:lvl2pPr marL="342900" indent="0" algn="l" defTabSz="685800" rtl="0" eaLnBrk="1" latinLnBrk="0" hangingPunct="1">
              <a:lnSpc>
                <a:spcPct val="85000"/>
              </a:lnSpc>
              <a:spcBef>
                <a:spcPts val="450"/>
              </a:spcBef>
              <a:buFont typeface="Arial" pitchFamily="34" charset="0"/>
              <a:buNone/>
              <a:defRPr sz="900" kern="1200">
                <a:solidFill>
                  <a:schemeClr val="tx1">
                    <a:lumMod val="85000"/>
                    <a:lumOff val="15000"/>
                  </a:schemeClr>
                </a:solidFill>
                <a:latin typeface="+mn-lt"/>
                <a:ea typeface="+mn-ea"/>
                <a:cs typeface="+mn-cs"/>
              </a:defRPr>
            </a:lvl2pPr>
            <a:lvl3pPr marL="685800" indent="0" algn="l" defTabSz="685800" rtl="0" eaLnBrk="1" latinLnBrk="0" hangingPunct="1">
              <a:lnSpc>
                <a:spcPct val="85000"/>
              </a:lnSpc>
              <a:spcBef>
                <a:spcPts val="450"/>
              </a:spcBef>
              <a:buFont typeface="Arial" pitchFamily="34" charset="0"/>
              <a:buNone/>
              <a:defRPr sz="750" i="1" kern="1200">
                <a:solidFill>
                  <a:schemeClr val="tx1">
                    <a:lumMod val="85000"/>
                    <a:lumOff val="15000"/>
                  </a:schemeClr>
                </a:solidFill>
                <a:latin typeface="+mn-lt"/>
                <a:ea typeface="+mn-ea"/>
                <a:cs typeface="+mn-cs"/>
              </a:defRPr>
            </a:lvl3pPr>
            <a:lvl4pPr marL="10287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4pPr>
            <a:lvl5pPr marL="13716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5pPr>
            <a:lvl6pPr marL="17145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6pPr>
            <a:lvl7pPr marL="20574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7pPr>
            <a:lvl8pPr marL="24003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8pPr>
            <a:lvl9pPr marL="27432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9pPr>
          </a:lstStyle>
          <a:p>
            <a:endParaRPr lang="en-US" sz="2400" dirty="0">
              <a:solidFill>
                <a:srgbClr val="F03B5E"/>
              </a:solidFill>
              <a:cs typeface="B Titr" panose="00000700000000000000" pitchFamily="2" charset="-78"/>
            </a:endParaRPr>
          </a:p>
        </p:txBody>
      </p:sp>
      <p:sp>
        <p:nvSpPr>
          <p:cNvPr id="26" name="TextBox 25">
            <a:extLst>
              <a:ext uri="{FF2B5EF4-FFF2-40B4-BE49-F238E27FC236}">
                <a16:creationId xmlns:a16="http://schemas.microsoft.com/office/drawing/2014/main" id="{327804D5-62BD-434C-B7F8-CD40B56EEC2C}"/>
              </a:ext>
            </a:extLst>
          </p:cNvPr>
          <p:cNvSpPr txBox="1"/>
          <p:nvPr/>
        </p:nvSpPr>
        <p:spPr>
          <a:xfrm>
            <a:off x="2578100" y="328371"/>
            <a:ext cx="4279901" cy="600164"/>
          </a:xfrm>
          <a:prstGeom prst="rect">
            <a:avLst/>
          </a:prstGeom>
          <a:noFill/>
        </p:spPr>
        <p:txBody>
          <a:bodyPr wrap="square" rtlCol="0">
            <a:spAutoFit/>
          </a:bodyPr>
          <a:lstStyle/>
          <a:p>
            <a:pPr lvl="1" algn="l"/>
            <a:endParaRPr lang="fa-IR" sz="1100" dirty="0">
              <a:latin typeface="Californian FB" panose="0207040306080B030204" pitchFamily="18" charset="0"/>
              <a:cs typeface="B Lotus" panose="00000400000000000000" pitchFamily="2" charset="-78"/>
            </a:endParaRPr>
          </a:p>
          <a:p>
            <a:pPr lvl="1" algn="l"/>
            <a:r>
              <a:rPr lang="en-US" sz="1100" dirty="0">
                <a:latin typeface="Californian FB" panose="0207040306080B030204" pitchFamily="18" charset="0"/>
                <a:cs typeface="B Lotus" panose="00000400000000000000" pitchFamily="2" charset="-78"/>
              </a:rPr>
              <a:t>Date of birth : 2005/1/18</a:t>
            </a:r>
          </a:p>
          <a:p>
            <a:pPr lvl="1" algn="l"/>
            <a:r>
              <a:rPr lang="en-US" sz="1100" dirty="0">
                <a:latin typeface="Californian FB" panose="0207040306080B030204" pitchFamily="18" charset="0"/>
                <a:cs typeface="B Lotus" panose="00000400000000000000" pitchFamily="2" charset="-78"/>
              </a:rPr>
              <a:t>Marital Status : Single</a:t>
            </a:r>
          </a:p>
        </p:txBody>
      </p:sp>
      <p:sp>
        <p:nvSpPr>
          <p:cNvPr id="29" name="TextBox 28">
            <a:extLst>
              <a:ext uri="{FF2B5EF4-FFF2-40B4-BE49-F238E27FC236}">
                <a16:creationId xmlns:a16="http://schemas.microsoft.com/office/drawing/2014/main" id="{6287BB15-1240-4609-A908-ACD37C252637}"/>
              </a:ext>
            </a:extLst>
          </p:cNvPr>
          <p:cNvSpPr txBox="1"/>
          <p:nvPr/>
        </p:nvSpPr>
        <p:spPr>
          <a:xfrm>
            <a:off x="2578100" y="1612721"/>
            <a:ext cx="4279900" cy="1785104"/>
          </a:xfrm>
          <a:prstGeom prst="rect">
            <a:avLst/>
          </a:prstGeom>
          <a:noFill/>
        </p:spPr>
        <p:txBody>
          <a:bodyPr wrap="square" rtlCol="0">
            <a:spAutoFit/>
          </a:bodyPr>
          <a:lstStyle/>
          <a:p>
            <a:pPr lvl="1"/>
            <a:r>
              <a:rPr lang="en-US" sz="1100" dirty="0">
                <a:latin typeface="Californian FB" panose="0207040306080B030204" pitchFamily="18" charset="0"/>
              </a:rPr>
              <a:t>Sixth-semester Computer Engineering student with an excellent academic record and experience in game development. Skilled in contributing to both commercial and academic projects across software, hardware, and programming domains. Passionate about web development and software engineering, with strong problem-solving abilities, teamwork skills, and a proven capacity for rapid learning. Seeking professional opportunities to apply technical knowledge, gain hands-on experience, and further develop a career in software development.</a:t>
            </a:r>
            <a:endParaRPr lang="fa-IR" sz="1100" dirty="0">
              <a:latin typeface="Californian FB" panose="0207040306080B030204" pitchFamily="18" charset="0"/>
              <a:cs typeface="B Lotus" panose="00000400000000000000" pitchFamily="2" charset="-78"/>
            </a:endParaRPr>
          </a:p>
        </p:txBody>
      </p:sp>
      <p:sp>
        <p:nvSpPr>
          <p:cNvPr id="9" name="Rectangle 8">
            <a:extLst>
              <a:ext uri="{FF2B5EF4-FFF2-40B4-BE49-F238E27FC236}">
                <a16:creationId xmlns:a16="http://schemas.microsoft.com/office/drawing/2014/main" id="{FFF5B096-8B31-43C3-BC0C-B25EF6279ACB}"/>
              </a:ext>
            </a:extLst>
          </p:cNvPr>
          <p:cNvSpPr/>
          <p:nvPr/>
        </p:nvSpPr>
        <p:spPr>
          <a:xfrm>
            <a:off x="-28764" y="311"/>
            <a:ext cx="2579797" cy="9906000"/>
          </a:xfrm>
          <a:prstGeom prst="rect">
            <a:avLst/>
          </a:prstGeom>
          <a:solidFill>
            <a:srgbClr val="F03B5E"/>
          </a:solidFill>
          <a:ln>
            <a:solidFill>
              <a:srgbClr val="F03B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8C720F06-3892-4C2C-B215-DB621FB7BAAC}"/>
              </a:ext>
            </a:extLst>
          </p:cNvPr>
          <p:cNvPicPr>
            <a:picLocks noChangeAspect="1"/>
          </p:cNvPicPr>
          <p:nvPr/>
        </p:nvPicPr>
        <p:blipFill>
          <a:blip r:embed="rId2"/>
          <a:stretch>
            <a:fillRect/>
          </a:stretch>
        </p:blipFill>
        <p:spPr>
          <a:xfrm>
            <a:off x="335197" y="287241"/>
            <a:ext cx="1847160" cy="2773244"/>
          </a:xfrm>
          <a:prstGeom prst="rect">
            <a:avLst/>
          </a:prstGeom>
          <a:ln>
            <a:noFill/>
          </a:ln>
          <a:effectLst>
            <a:outerShdw blurRad="190500" algn="tl" rotWithShape="0">
              <a:srgbClr val="000000">
                <a:alpha val="70000"/>
              </a:srgbClr>
            </a:outerShdw>
          </a:effectLst>
        </p:spPr>
      </p:pic>
      <p:sp>
        <p:nvSpPr>
          <p:cNvPr id="20" name="TextBox 19">
            <a:extLst>
              <a:ext uri="{FF2B5EF4-FFF2-40B4-BE49-F238E27FC236}">
                <a16:creationId xmlns:a16="http://schemas.microsoft.com/office/drawing/2014/main" id="{3A027F7F-E55B-4C2E-A596-6A0E21C0B48C}"/>
              </a:ext>
            </a:extLst>
          </p:cNvPr>
          <p:cNvSpPr txBox="1"/>
          <p:nvPr/>
        </p:nvSpPr>
        <p:spPr>
          <a:xfrm>
            <a:off x="-28764" y="3351046"/>
            <a:ext cx="2579797" cy="261610"/>
          </a:xfrm>
          <a:prstGeom prst="rect">
            <a:avLst/>
          </a:prstGeom>
          <a:noFill/>
        </p:spPr>
        <p:txBody>
          <a:bodyPr wrap="square" rtlCol="0">
            <a:spAutoFit/>
          </a:bodyPr>
          <a:lstStyle/>
          <a:p>
            <a:pPr algn="ctr" rtl="1"/>
            <a:r>
              <a:rPr lang="en-US" sz="1100" dirty="0">
                <a:latin typeface="Tahoma" panose="020B0604030504040204" pitchFamily="34" charset="0"/>
                <a:ea typeface="Tahoma" panose="020B0604030504040204" pitchFamily="34" charset="0"/>
                <a:cs typeface="B Lotus" panose="00000400000000000000" pitchFamily="2" charset="-78"/>
              </a:rPr>
              <a:t>Software developer</a:t>
            </a:r>
          </a:p>
        </p:txBody>
      </p:sp>
      <p:grpSp>
        <p:nvGrpSpPr>
          <p:cNvPr id="7" name="Group 6">
            <a:extLst>
              <a:ext uri="{FF2B5EF4-FFF2-40B4-BE49-F238E27FC236}">
                <a16:creationId xmlns:a16="http://schemas.microsoft.com/office/drawing/2014/main" id="{3E640023-07B1-425D-9751-CBDB46AFE3DB}"/>
              </a:ext>
            </a:extLst>
          </p:cNvPr>
          <p:cNvGrpSpPr/>
          <p:nvPr/>
        </p:nvGrpSpPr>
        <p:grpSpPr>
          <a:xfrm>
            <a:off x="340904" y="3962768"/>
            <a:ext cx="1847160" cy="1126276"/>
            <a:chOff x="4719748" y="4148672"/>
            <a:chExt cx="1847160" cy="1126276"/>
          </a:xfrm>
        </p:grpSpPr>
        <p:sp>
          <p:nvSpPr>
            <p:cNvPr id="21" name="Rectangle 20">
              <a:extLst>
                <a:ext uri="{FF2B5EF4-FFF2-40B4-BE49-F238E27FC236}">
                  <a16:creationId xmlns:a16="http://schemas.microsoft.com/office/drawing/2014/main" id="{2AAA057D-10F7-4E0B-B76D-FD2B7C148B58}"/>
                </a:ext>
              </a:extLst>
            </p:cNvPr>
            <p:cNvSpPr/>
            <p:nvPr/>
          </p:nvSpPr>
          <p:spPr>
            <a:xfrm>
              <a:off x="4719748" y="4148672"/>
              <a:ext cx="1847160" cy="1126276"/>
            </a:xfrm>
            <a:prstGeom prst="rect">
              <a:avLst/>
            </a:prstGeom>
            <a:solidFill>
              <a:srgbClr val="F03B5E"/>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r>
                <a:rPr lang="en-US" sz="900"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en-US" sz="900" dirty="0">
                  <a:solidFill>
                    <a:srgbClr val="FFFFFF"/>
                  </a:solidFill>
                  <a:latin typeface="Tahoma" panose="020B0604030504040204" pitchFamily="34" charset="0"/>
                  <a:ea typeface="Tahoma" panose="020B0604030504040204" pitchFamily="34" charset="0"/>
                  <a:cs typeface="Tahoma" panose="020B0604030504040204" pitchFamily="34" charset="0"/>
                </a:rPr>
                <a:t>09223848714</a:t>
              </a:r>
              <a:endParaRPr lang="fa-IR" sz="900" dirty="0">
                <a:solidFill>
                  <a:srgbClr val="FFFFFF"/>
                </a:solidFill>
                <a:latin typeface="Tahoma" panose="020B0604030504040204" pitchFamily="34" charset="0"/>
                <a:ea typeface="Tahoma" panose="020B0604030504040204" pitchFamily="34" charset="0"/>
                <a:cs typeface="Tahoma" panose="020B0604030504040204" pitchFamily="34" charset="0"/>
              </a:endParaRPr>
            </a:p>
            <a:p>
              <a:r>
                <a:rPr lang="fa-IR" sz="900"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en-US" sz="900" dirty="0">
                  <a:solidFill>
                    <a:srgbClr val="FFFFFF"/>
                  </a:solidFill>
                  <a:latin typeface="Tahoma" panose="020B0604030504040204" pitchFamily="34" charset="0"/>
                  <a:ea typeface="Tahoma" panose="020B0604030504040204" pitchFamily="34" charset="0"/>
                  <a:cs typeface="Tahoma" panose="020B0604030504040204" pitchFamily="34" charset="0"/>
                </a:rPr>
                <a:t>mehrdadmrs10@gmail.com</a:t>
              </a:r>
            </a:p>
            <a:p>
              <a:r>
                <a:rPr lang="en-US" sz="900"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en-US" sz="900" dirty="0">
                  <a:solidFill>
                    <a:srgbClr val="FFFFFF"/>
                  </a:solidFill>
                  <a:latin typeface="Tahoma" panose="020B0604030504040204" pitchFamily="34" charset="0"/>
                  <a:ea typeface="Tahoma" panose="020B0604030504040204" pitchFamily="34" charset="0"/>
                  <a:cs typeface="Tahoma" panose="020B0604030504040204" pitchFamily="34" charset="0"/>
                </a:rPr>
                <a:t> Hamedan</a:t>
              </a:r>
              <a:br>
                <a:rPr lang="fa-IR" sz="900" dirty="0">
                  <a:solidFill>
                    <a:srgbClr val="FFFFFF"/>
                  </a:solidFill>
                  <a:latin typeface="Tahoma" panose="020B0604030504040204" pitchFamily="34" charset="0"/>
                  <a:ea typeface="Tahoma" panose="020B0604030504040204" pitchFamily="34" charset="0"/>
                  <a:cs typeface="Tahoma" panose="020B0604030504040204" pitchFamily="34" charset="0"/>
                </a:rPr>
              </a:br>
              <a:r>
                <a:rPr lang="en-US" sz="900" dirty="0">
                  <a:solidFill>
                    <a:srgbClr val="FFFFFF"/>
                  </a:solidFill>
                  <a:latin typeface="Tahoma" panose="020B0604030504040204" pitchFamily="34" charset="0"/>
                  <a:ea typeface="Tahoma" panose="020B0604030504040204" pitchFamily="34" charset="0"/>
                  <a:cs typeface="Tahoma" panose="020B0604030504040204" pitchFamily="34" charset="0"/>
                </a:rPr>
                <a:t>     Mehrdad_383</a:t>
              </a:r>
              <a:br>
                <a:rPr lang="fa-IR" sz="900" dirty="0">
                  <a:solidFill>
                    <a:srgbClr val="FFFFFF"/>
                  </a:solidFill>
                  <a:latin typeface="Tahoma" panose="020B0604030504040204" pitchFamily="34" charset="0"/>
                  <a:ea typeface="Tahoma" panose="020B0604030504040204" pitchFamily="34" charset="0"/>
                  <a:cs typeface="Tahoma" panose="020B0604030504040204" pitchFamily="34" charset="0"/>
                </a:rPr>
              </a:br>
              <a:r>
                <a:rPr lang="en-US" sz="900" dirty="0">
                  <a:solidFill>
                    <a:srgbClr val="FFFFFF"/>
                  </a:solidFill>
                  <a:latin typeface="Tahoma" panose="020B0604030504040204" pitchFamily="34" charset="0"/>
                  <a:ea typeface="Tahoma" panose="020B0604030504040204" pitchFamily="34" charset="0"/>
                  <a:cs typeface="Tahoma" panose="020B0604030504040204" pitchFamily="34" charset="0"/>
                </a:rPr>
                <a:t>     Mehrdad386</a:t>
              </a:r>
            </a:p>
            <a:p>
              <a:r>
                <a:rPr lang="en-US" sz="900" dirty="0">
                  <a:solidFill>
                    <a:srgbClr val="FFFFFF"/>
                  </a:solidFill>
                  <a:latin typeface="Tahoma" panose="020B0604030504040204" pitchFamily="34" charset="0"/>
                  <a:ea typeface="Tahoma" panose="020B0604030504040204" pitchFamily="34" charset="0"/>
                  <a:cs typeface="Tahoma" panose="020B0604030504040204" pitchFamily="34" charset="0"/>
                </a:rPr>
                <a:t>     Mehrdad386         </a:t>
              </a:r>
              <a:r>
                <a:rPr lang="fa-IR" sz="900" dirty="0">
                  <a:solidFill>
                    <a:srgbClr val="FFFFFF"/>
                  </a:solidFill>
                  <a:latin typeface="Tahoma" panose="020B0604030504040204" pitchFamily="34" charset="0"/>
                  <a:ea typeface="Tahoma" panose="020B0604030504040204" pitchFamily="34" charset="0"/>
                  <a:cs typeface="Tahoma" panose="020B0604030504040204" pitchFamily="34" charset="0"/>
                </a:rPr>
                <a:t>  </a:t>
              </a:r>
              <a:endParaRPr lang="en-US" sz="900" dirty="0">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pic>
          <p:nvPicPr>
            <p:cNvPr id="23" name="Picture 22">
              <a:extLst>
                <a:ext uri="{FF2B5EF4-FFF2-40B4-BE49-F238E27FC236}">
                  <a16:creationId xmlns:a16="http://schemas.microsoft.com/office/drawing/2014/main" id="{4D7E798D-1F7B-408E-B91E-CA65B968FF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6690" y="4688977"/>
              <a:ext cx="216612" cy="203149"/>
            </a:xfrm>
            <a:prstGeom prst="rect">
              <a:avLst/>
            </a:prstGeom>
          </p:spPr>
        </p:pic>
        <p:pic>
          <p:nvPicPr>
            <p:cNvPr id="25" name="Picture 24">
              <a:extLst>
                <a:ext uri="{FF2B5EF4-FFF2-40B4-BE49-F238E27FC236}">
                  <a16:creationId xmlns:a16="http://schemas.microsoft.com/office/drawing/2014/main" id="{1E8D7053-5F13-45F9-A2B7-5DF5F17811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2964" y="4859043"/>
              <a:ext cx="162479" cy="152381"/>
            </a:xfrm>
            <a:prstGeom prst="rect">
              <a:avLst/>
            </a:prstGeom>
          </p:spPr>
        </p:pic>
        <p:pic>
          <p:nvPicPr>
            <p:cNvPr id="27" name="Picture 26">
              <a:extLst>
                <a:ext uri="{FF2B5EF4-FFF2-40B4-BE49-F238E27FC236}">
                  <a16:creationId xmlns:a16="http://schemas.microsoft.com/office/drawing/2014/main" id="{8E9644E9-80FB-4734-B56B-F2CB55DE61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05345" y="4992712"/>
              <a:ext cx="162479" cy="152381"/>
            </a:xfrm>
            <a:prstGeom prst="rect">
              <a:avLst/>
            </a:prstGeom>
          </p:spPr>
        </p:pic>
      </p:grpSp>
      <p:sp>
        <p:nvSpPr>
          <p:cNvPr id="2" name="TextBox 1">
            <a:extLst>
              <a:ext uri="{FF2B5EF4-FFF2-40B4-BE49-F238E27FC236}">
                <a16:creationId xmlns:a16="http://schemas.microsoft.com/office/drawing/2014/main" id="{C43C1C89-8B4C-4A07-9BF0-BA86D1051E14}"/>
              </a:ext>
            </a:extLst>
          </p:cNvPr>
          <p:cNvSpPr txBox="1"/>
          <p:nvPr/>
        </p:nvSpPr>
        <p:spPr>
          <a:xfrm>
            <a:off x="335197" y="5289875"/>
            <a:ext cx="1830146" cy="369332"/>
          </a:xfrm>
          <a:prstGeom prst="rect">
            <a:avLst/>
          </a:prstGeom>
          <a:noFill/>
        </p:spPr>
        <p:txBody>
          <a:bodyPr wrap="square" rtlCol="0">
            <a:spAutoFit/>
          </a:bodyPr>
          <a:lstStyle/>
          <a:p>
            <a:r>
              <a:rPr lang="en-US" dirty="0">
                <a:solidFill>
                  <a:srgbClr val="FFFFFF"/>
                </a:solidFill>
                <a:latin typeface="Impact" panose="020B0806030902050204" pitchFamily="34" charset="0"/>
                <a:cs typeface="B Titr" panose="00000700000000000000" pitchFamily="2" charset="-78"/>
              </a:rPr>
              <a:t>Skills</a:t>
            </a:r>
          </a:p>
        </p:txBody>
      </p:sp>
      <p:cxnSp>
        <p:nvCxnSpPr>
          <p:cNvPr id="4" name="Straight Connector 3">
            <a:extLst>
              <a:ext uri="{FF2B5EF4-FFF2-40B4-BE49-F238E27FC236}">
                <a16:creationId xmlns:a16="http://schemas.microsoft.com/office/drawing/2014/main" id="{F1D97112-915C-4383-B07B-0E0D88432320}"/>
              </a:ext>
            </a:extLst>
          </p:cNvPr>
          <p:cNvCxnSpPr>
            <a:cxnSpLocks/>
          </p:cNvCxnSpPr>
          <p:nvPr/>
        </p:nvCxnSpPr>
        <p:spPr>
          <a:xfrm>
            <a:off x="318183" y="5698992"/>
            <a:ext cx="1847160" cy="0"/>
          </a:xfrm>
          <a:prstGeom prst="line">
            <a:avLst/>
          </a:prstGeom>
        </p:spPr>
        <p:style>
          <a:lnRef idx="1">
            <a:schemeClr val="dk1"/>
          </a:lnRef>
          <a:fillRef idx="0">
            <a:schemeClr val="dk1"/>
          </a:fillRef>
          <a:effectRef idx="0">
            <a:schemeClr val="dk1"/>
          </a:effectRef>
          <a:fontRef idx="minor">
            <a:schemeClr val="tx1"/>
          </a:fontRef>
        </p:style>
      </p:cxnSp>
      <p:sp>
        <p:nvSpPr>
          <p:cNvPr id="15" name="Text Placeholder 14">
            <a:extLst>
              <a:ext uri="{FF2B5EF4-FFF2-40B4-BE49-F238E27FC236}">
                <a16:creationId xmlns:a16="http://schemas.microsoft.com/office/drawing/2014/main" id="{5B37F01B-DA59-4CAE-9AE6-1C35A8C8FD8E}"/>
              </a:ext>
            </a:extLst>
          </p:cNvPr>
          <p:cNvSpPr>
            <a:spLocks noGrp="1"/>
          </p:cNvSpPr>
          <p:nvPr>
            <p:ph type="body" sz="half" idx="4294967295"/>
          </p:nvPr>
        </p:nvSpPr>
        <p:spPr>
          <a:xfrm>
            <a:off x="-28764" y="3100921"/>
            <a:ext cx="2579797" cy="522288"/>
          </a:xfrm>
        </p:spPr>
        <p:txBody>
          <a:bodyPr>
            <a:normAutofit/>
          </a:bodyPr>
          <a:lstStyle/>
          <a:p>
            <a:pPr algn="ctr"/>
            <a:r>
              <a:rPr lang="en-US" sz="1600" dirty="0">
                <a:solidFill>
                  <a:srgbClr val="FFFFFF"/>
                </a:solidFill>
                <a:latin typeface="Impact" panose="020B0806030902050204" pitchFamily="34" charset="0"/>
                <a:ea typeface="Tahoma" panose="020B0604030504040204" pitchFamily="34" charset="0"/>
                <a:cs typeface="Tahoma" panose="020B0604030504040204" pitchFamily="34" charset="0"/>
              </a:rPr>
              <a:t>Mehrdad </a:t>
            </a:r>
            <a:r>
              <a:rPr lang="en-US" sz="1600" dirty="0" err="1">
                <a:solidFill>
                  <a:srgbClr val="FFFFFF"/>
                </a:solidFill>
                <a:latin typeface="Impact" panose="020B0806030902050204" pitchFamily="34" charset="0"/>
                <a:ea typeface="Tahoma" panose="020B0604030504040204" pitchFamily="34" charset="0"/>
                <a:cs typeface="Tahoma" panose="020B0604030504040204" pitchFamily="34" charset="0"/>
              </a:rPr>
              <a:t>Varmazyar</a:t>
            </a:r>
            <a:endParaRPr lang="en-US" sz="1600" dirty="0">
              <a:solidFill>
                <a:srgbClr val="FFFFFF"/>
              </a:solidFill>
              <a:latin typeface="Impact" panose="020B080603090205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482E0023-B4C2-4A54-B21E-B948ED1D44E1}"/>
              </a:ext>
            </a:extLst>
          </p:cNvPr>
          <p:cNvSpPr txBox="1"/>
          <p:nvPr/>
        </p:nvSpPr>
        <p:spPr>
          <a:xfrm>
            <a:off x="-39328" y="5806741"/>
            <a:ext cx="2579797" cy="861774"/>
          </a:xfrm>
          <a:prstGeom prst="rect">
            <a:avLst/>
          </a:prstGeom>
          <a:noFill/>
        </p:spPr>
        <p:txBody>
          <a:bodyPr wrap="square" rtlCol="0">
            <a:spAutoFit/>
          </a:bodyPr>
          <a:lstStyle/>
          <a:p>
            <a:pPr marL="171450" indent="-171450">
              <a:buFont typeface="Arial" panose="020B0604020202020204" pitchFamily="34" charset="0"/>
              <a:buChar char="•"/>
            </a:pPr>
            <a:r>
              <a:rPr lang="en-US" sz="1000" dirty="0">
                <a:solidFill>
                  <a:srgbClr val="FFFFFF"/>
                </a:solidFill>
                <a:cs typeface="B Lotus" panose="00000400000000000000" pitchFamily="2" charset="-78"/>
              </a:rPr>
              <a:t>Software programming</a:t>
            </a:r>
            <a:endParaRPr lang="fa-IR" sz="1000" dirty="0">
              <a:solidFill>
                <a:srgbClr val="FFFFFF"/>
              </a:solidFill>
              <a:cs typeface="B Lotus" panose="00000400000000000000" pitchFamily="2" charset="-78"/>
            </a:endParaRPr>
          </a:p>
          <a:p>
            <a:pPr marL="628650" lvl="1" indent="-171450">
              <a:buFont typeface="Arial" panose="020B0604020202020204" pitchFamily="34" charset="0"/>
              <a:buChar char="•"/>
            </a:pPr>
            <a:r>
              <a:rPr lang="en-US" sz="1000" dirty="0">
                <a:solidFill>
                  <a:srgbClr val="FFFFFF"/>
                </a:solidFill>
                <a:cs typeface="B Lotus" panose="00000400000000000000" pitchFamily="2" charset="-78"/>
              </a:rPr>
              <a:t>C++</a:t>
            </a:r>
            <a:r>
              <a:rPr lang="fa-IR" sz="1000" dirty="0">
                <a:solidFill>
                  <a:srgbClr val="FFFFFF"/>
                </a:solidFill>
                <a:cs typeface="B Lotus" panose="00000400000000000000" pitchFamily="2" charset="-78"/>
              </a:rPr>
              <a:t>  </a:t>
            </a:r>
            <a:r>
              <a:rPr lang="fa-IR" sz="1000" dirty="0">
                <a:cs typeface="B Lotus" panose="00000400000000000000" pitchFamily="2" charset="-78"/>
              </a:rPr>
              <a:t>🟩🟩🟩🟩🟩</a:t>
            </a:r>
            <a:endParaRPr lang="en-US" sz="1000" dirty="0">
              <a:cs typeface="B Lotus" panose="00000400000000000000" pitchFamily="2" charset="-78"/>
            </a:endParaRPr>
          </a:p>
          <a:p>
            <a:pPr marL="628650" lvl="1" indent="-171450">
              <a:buFont typeface="Arial" panose="020B0604020202020204" pitchFamily="34" charset="0"/>
              <a:buChar char="•"/>
            </a:pPr>
            <a:r>
              <a:rPr lang="en-US" sz="1000" dirty="0">
                <a:solidFill>
                  <a:srgbClr val="FFFFFF"/>
                </a:solidFill>
                <a:cs typeface="B Lotus" panose="00000400000000000000" pitchFamily="2" charset="-78"/>
              </a:rPr>
              <a:t>Python</a:t>
            </a:r>
            <a:r>
              <a:rPr lang="fa-IR" sz="1000" dirty="0">
                <a:solidFill>
                  <a:srgbClr val="FFFFFF"/>
                </a:solidFill>
                <a:cs typeface="B Lotus" panose="00000400000000000000" pitchFamily="2" charset="-78"/>
              </a:rPr>
              <a:t> </a:t>
            </a:r>
            <a:r>
              <a:rPr lang="fa-IR" sz="1000" dirty="0">
                <a:cs typeface="B Lotus" panose="00000400000000000000" pitchFamily="2" charset="-78"/>
              </a:rPr>
              <a:t>🟩🟩🟩⬜⬜</a:t>
            </a:r>
          </a:p>
          <a:p>
            <a:pPr lvl="1"/>
            <a:endParaRPr lang="fa-IR" sz="1000" dirty="0">
              <a:solidFill>
                <a:srgbClr val="FFFFFF"/>
              </a:solidFill>
              <a:cs typeface="B Lotus" panose="00000400000000000000" pitchFamily="2" charset="-78"/>
            </a:endParaRPr>
          </a:p>
          <a:p>
            <a:pPr marL="628650" lvl="1" indent="-171450">
              <a:buFont typeface="Arial" panose="020B0604020202020204" pitchFamily="34" charset="0"/>
              <a:buChar char="•"/>
            </a:pPr>
            <a:endParaRPr lang="fa-IR" sz="1000" dirty="0">
              <a:solidFill>
                <a:srgbClr val="FFFFFF"/>
              </a:solidFill>
              <a:cs typeface="B Lotus" panose="00000400000000000000" pitchFamily="2" charset="-78"/>
            </a:endParaRPr>
          </a:p>
        </p:txBody>
      </p:sp>
      <p:sp>
        <p:nvSpPr>
          <p:cNvPr id="16" name="TextBox 15">
            <a:extLst>
              <a:ext uri="{FF2B5EF4-FFF2-40B4-BE49-F238E27FC236}">
                <a16:creationId xmlns:a16="http://schemas.microsoft.com/office/drawing/2014/main" id="{5F1A6ECC-BFFC-43A3-B14D-93A3F30E829B}"/>
              </a:ext>
            </a:extLst>
          </p:cNvPr>
          <p:cNvSpPr txBox="1"/>
          <p:nvPr/>
        </p:nvSpPr>
        <p:spPr>
          <a:xfrm>
            <a:off x="-44813" y="6432379"/>
            <a:ext cx="2579797" cy="553998"/>
          </a:xfrm>
          <a:prstGeom prst="rect">
            <a:avLst/>
          </a:prstGeom>
          <a:noFill/>
        </p:spPr>
        <p:txBody>
          <a:bodyPr wrap="square" rtlCol="0">
            <a:spAutoFit/>
          </a:bodyPr>
          <a:lstStyle/>
          <a:p>
            <a:pPr marL="171450" indent="-171450" algn="l">
              <a:buFont typeface="Arial" panose="020B0604020202020204" pitchFamily="34" charset="0"/>
              <a:buChar char="•"/>
            </a:pPr>
            <a:r>
              <a:rPr lang="en-US" sz="1000" dirty="0">
                <a:solidFill>
                  <a:srgbClr val="FFFFFF"/>
                </a:solidFill>
                <a:cs typeface="B Lotus" panose="00000400000000000000" pitchFamily="2" charset="-78"/>
              </a:rPr>
              <a:t>Hardware programming</a:t>
            </a:r>
            <a:endParaRPr lang="fa-IR" sz="1000" dirty="0">
              <a:solidFill>
                <a:srgbClr val="FFFFFF"/>
              </a:solidFill>
              <a:cs typeface="B Lotus" panose="00000400000000000000" pitchFamily="2" charset="-78"/>
            </a:endParaRPr>
          </a:p>
          <a:p>
            <a:pPr marL="628650" lvl="1" indent="-171450" algn="l">
              <a:buFont typeface="Arial" panose="020B0604020202020204" pitchFamily="34" charset="0"/>
              <a:buChar char="•"/>
            </a:pPr>
            <a:r>
              <a:rPr lang="en-US" sz="1000" dirty="0">
                <a:solidFill>
                  <a:srgbClr val="FFFFFF"/>
                </a:solidFill>
                <a:cs typeface="B Lotus" panose="00000400000000000000" pitchFamily="2" charset="-78"/>
              </a:rPr>
              <a:t>VHDL</a:t>
            </a:r>
            <a:r>
              <a:rPr lang="fa-IR" sz="1000" dirty="0">
                <a:solidFill>
                  <a:srgbClr val="FFFFFF"/>
                </a:solidFill>
                <a:cs typeface="B Lotus" panose="00000400000000000000" pitchFamily="2" charset="-78"/>
              </a:rPr>
              <a:t> </a:t>
            </a:r>
            <a:r>
              <a:rPr lang="fa-IR" sz="1000" dirty="0">
                <a:cs typeface="B Lotus" panose="00000400000000000000" pitchFamily="2" charset="-78"/>
              </a:rPr>
              <a:t>🟩🟩🟩⬜⬜</a:t>
            </a:r>
          </a:p>
          <a:p>
            <a:pPr marL="628650" lvl="1" indent="-171450" algn="l">
              <a:buFont typeface="Arial" panose="020B0604020202020204" pitchFamily="34" charset="0"/>
              <a:buChar char="•"/>
            </a:pPr>
            <a:endParaRPr lang="fa-IR" sz="1000" dirty="0">
              <a:solidFill>
                <a:srgbClr val="FFFFFF"/>
              </a:solidFill>
              <a:cs typeface="B Lotus" panose="00000400000000000000" pitchFamily="2" charset="-78"/>
            </a:endParaRPr>
          </a:p>
        </p:txBody>
      </p:sp>
      <p:sp>
        <p:nvSpPr>
          <p:cNvPr id="17" name="TextBox 16">
            <a:extLst>
              <a:ext uri="{FF2B5EF4-FFF2-40B4-BE49-F238E27FC236}">
                <a16:creationId xmlns:a16="http://schemas.microsoft.com/office/drawing/2014/main" id="{E14C54C5-2C75-478C-BA9A-91DEFFBE6D96}"/>
              </a:ext>
            </a:extLst>
          </p:cNvPr>
          <p:cNvSpPr txBox="1"/>
          <p:nvPr/>
        </p:nvSpPr>
        <p:spPr>
          <a:xfrm>
            <a:off x="-35840" y="6890239"/>
            <a:ext cx="2579797" cy="707886"/>
          </a:xfrm>
          <a:prstGeom prst="rect">
            <a:avLst/>
          </a:prstGeom>
          <a:noFill/>
        </p:spPr>
        <p:txBody>
          <a:bodyPr wrap="square" rtlCol="0">
            <a:spAutoFit/>
          </a:bodyPr>
          <a:lstStyle/>
          <a:p>
            <a:pPr marL="171450" indent="-171450" algn="l">
              <a:buFont typeface="Arial" panose="020B0604020202020204" pitchFamily="34" charset="0"/>
              <a:buChar char="•"/>
            </a:pPr>
            <a:r>
              <a:rPr lang="en-US" sz="1000" dirty="0">
                <a:solidFill>
                  <a:srgbClr val="FFFFFF"/>
                </a:solidFill>
                <a:cs typeface="B Lotus" panose="00000400000000000000" pitchFamily="2" charset="-78"/>
              </a:rPr>
              <a:t>Web Programming</a:t>
            </a:r>
            <a:endParaRPr lang="fa-IR" sz="1000" dirty="0">
              <a:solidFill>
                <a:srgbClr val="FFFFFF"/>
              </a:solidFill>
              <a:cs typeface="B Lotus" panose="00000400000000000000" pitchFamily="2" charset="-78"/>
            </a:endParaRPr>
          </a:p>
          <a:p>
            <a:pPr marL="628650" lvl="1" indent="-171450" algn="l">
              <a:buFont typeface="Arial" panose="020B0604020202020204" pitchFamily="34" charset="0"/>
              <a:buChar char="•"/>
            </a:pPr>
            <a:r>
              <a:rPr lang="en-US" sz="1000" dirty="0">
                <a:solidFill>
                  <a:srgbClr val="FFFFFF"/>
                </a:solidFill>
                <a:cs typeface="B Lotus" panose="00000400000000000000" pitchFamily="2" charset="-78"/>
              </a:rPr>
              <a:t>HTML , CSS</a:t>
            </a:r>
            <a:r>
              <a:rPr lang="fa-IR" sz="1000" dirty="0">
                <a:solidFill>
                  <a:srgbClr val="FFFFFF"/>
                </a:solidFill>
                <a:cs typeface="B Lotus" panose="00000400000000000000" pitchFamily="2" charset="-78"/>
              </a:rPr>
              <a:t> </a:t>
            </a:r>
            <a:r>
              <a:rPr lang="fa-IR" sz="1000" dirty="0">
                <a:cs typeface="B Lotus" panose="00000400000000000000" pitchFamily="2" charset="-78"/>
              </a:rPr>
              <a:t>🟩🟩🟩⬜⬜</a:t>
            </a:r>
          </a:p>
          <a:p>
            <a:pPr marL="628650" lvl="1" indent="-171450" algn="l">
              <a:buFont typeface="Arial" panose="020B0604020202020204" pitchFamily="34" charset="0"/>
              <a:buChar char="•"/>
            </a:pPr>
            <a:r>
              <a:rPr lang="en-US" sz="1000" dirty="0">
                <a:solidFill>
                  <a:srgbClr val="FFFFFF"/>
                </a:solidFill>
                <a:cs typeface="B Lotus" panose="00000400000000000000" pitchFamily="2" charset="-78"/>
              </a:rPr>
              <a:t>Word press</a:t>
            </a:r>
            <a:r>
              <a:rPr lang="fa-IR" sz="1000" dirty="0">
                <a:solidFill>
                  <a:srgbClr val="FFFFFF"/>
                </a:solidFill>
                <a:cs typeface="B Lotus" panose="00000400000000000000" pitchFamily="2" charset="-78"/>
              </a:rPr>
              <a:t> </a:t>
            </a:r>
            <a:r>
              <a:rPr lang="fa-IR" sz="1000" dirty="0">
                <a:cs typeface="B Lotus" panose="00000400000000000000" pitchFamily="2" charset="-78"/>
              </a:rPr>
              <a:t>⬜⬜⬜⬜⬜</a:t>
            </a:r>
          </a:p>
          <a:p>
            <a:pPr marL="628650" lvl="1" indent="-171450" algn="l">
              <a:buFont typeface="Arial" panose="020B0604020202020204" pitchFamily="34" charset="0"/>
              <a:buChar char="•"/>
            </a:pPr>
            <a:endParaRPr lang="fa-IR" sz="1000" dirty="0">
              <a:solidFill>
                <a:srgbClr val="FFFFFF"/>
              </a:solidFill>
              <a:cs typeface="B Lotus" panose="00000400000000000000" pitchFamily="2" charset="-78"/>
            </a:endParaRPr>
          </a:p>
        </p:txBody>
      </p:sp>
      <p:sp>
        <p:nvSpPr>
          <p:cNvPr id="19" name="TextBox 18">
            <a:extLst>
              <a:ext uri="{FF2B5EF4-FFF2-40B4-BE49-F238E27FC236}">
                <a16:creationId xmlns:a16="http://schemas.microsoft.com/office/drawing/2014/main" id="{A66D7841-200C-4C3B-A6D0-77A8605A65EA}"/>
              </a:ext>
            </a:extLst>
          </p:cNvPr>
          <p:cNvSpPr txBox="1"/>
          <p:nvPr/>
        </p:nvSpPr>
        <p:spPr>
          <a:xfrm>
            <a:off x="-20600" y="7475642"/>
            <a:ext cx="2579796" cy="553998"/>
          </a:xfrm>
          <a:prstGeom prst="rect">
            <a:avLst/>
          </a:prstGeom>
          <a:noFill/>
        </p:spPr>
        <p:txBody>
          <a:bodyPr wrap="square" rtlCol="0">
            <a:spAutoFit/>
          </a:bodyPr>
          <a:lstStyle/>
          <a:p>
            <a:pPr marL="171450" indent="-171450" algn="l">
              <a:buFont typeface="Arial" panose="020B0604020202020204" pitchFamily="34" charset="0"/>
              <a:buChar char="•"/>
            </a:pPr>
            <a:r>
              <a:rPr lang="en-US" sz="1000" dirty="0">
                <a:solidFill>
                  <a:srgbClr val="FFFFFF"/>
                </a:solidFill>
                <a:cs typeface="B Lotus" panose="00000400000000000000" pitchFamily="2" charset="-78"/>
              </a:rPr>
              <a:t>Computer stuffs</a:t>
            </a:r>
            <a:endParaRPr lang="fa-IR" sz="1000" dirty="0">
              <a:solidFill>
                <a:srgbClr val="FFFFFF"/>
              </a:solidFill>
              <a:cs typeface="B Lotus" panose="00000400000000000000" pitchFamily="2" charset="-78"/>
            </a:endParaRPr>
          </a:p>
          <a:p>
            <a:pPr marL="628650" lvl="1" indent="-171450" algn="l">
              <a:buFont typeface="Arial" panose="020B0604020202020204" pitchFamily="34" charset="0"/>
              <a:buChar char="•"/>
            </a:pPr>
            <a:r>
              <a:rPr lang="en-US" sz="1000" dirty="0">
                <a:solidFill>
                  <a:srgbClr val="FFFFFF"/>
                </a:solidFill>
                <a:cs typeface="B Lotus" panose="00000400000000000000" pitchFamily="2" charset="-78"/>
              </a:rPr>
              <a:t>ICDL</a:t>
            </a:r>
            <a:r>
              <a:rPr lang="fa-IR" sz="1000" dirty="0">
                <a:solidFill>
                  <a:srgbClr val="FFFFFF"/>
                </a:solidFill>
                <a:cs typeface="B Lotus" panose="00000400000000000000" pitchFamily="2" charset="-78"/>
              </a:rPr>
              <a:t> </a:t>
            </a:r>
            <a:r>
              <a:rPr lang="fa-IR" sz="1000" dirty="0">
                <a:cs typeface="B Lotus" panose="00000400000000000000" pitchFamily="2" charset="-78"/>
              </a:rPr>
              <a:t>🟩🟩🟩🟩🟩</a:t>
            </a:r>
          </a:p>
          <a:p>
            <a:pPr marL="628650" lvl="1" indent="-171450" algn="l">
              <a:buFont typeface="Arial" panose="020B0604020202020204" pitchFamily="34" charset="0"/>
              <a:buChar char="•"/>
            </a:pPr>
            <a:endParaRPr lang="fa-IR" sz="1000" dirty="0">
              <a:solidFill>
                <a:srgbClr val="FFFFFF"/>
              </a:solidFill>
              <a:cs typeface="B Lotus" panose="00000400000000000000" pitchFamily="2" charset="-78"/>
            </a:endParaRPr>
          </a:p>
        </p:txBody>
      </p:sp>
      <p:sp>
        <p:nvSpPr>
          <p:cNvPr id="22" name="TextBox 21">
            <a:extLst>
              <a:ext uri="{FF2B5EF4-FFF2-40B4-BE49-F238E27FC236}">
                <a16:creationId xmlns:a16="http://schemas.microsoft.com/office/drawing/2014/main" id="{66B53C2B-6120-40D9-ABC6-0837EAF2764D}"/>
              </a:ext>
            </a:extLst>
          </p:cNvPr>
          <p:cNvSpPr txBox="1"/>
          <p:nvPr/>
        </p:nvSpPr>
        <p:spPr>
          <a:xfrm>
            <a:off x="-37193" y="7966050"/>
            <a:ext cx="2579797" cy="400110"/>
          </a:xfrm>
          <a:prstGeom prst="rect">
            <a:avLst/>
          </a:prstGeom>
          <a:noFill/>
        </p:spPr>
        <p:txBody>
          <a:bodyPr wrap="square" rtlCol="0">
            <a:spAutoFit/>
          </a:bodyPr>
          <a:lstStyle/>
          <a:p>
            <a:pPr marL="171450" indent="-171450" algn="l">
              <a:buFont typeface="Arial" panose="020B0604020202020204" pitchFamily="34" charset="0"/>
              <a:buChar char="•"/>
            </a:pPr>
            <a:r>
              <a:rPr lang="en-US" sz="1000" dirty="0">
                <a:solidFill>
                  <a:srgbClr val="FFFFFF"/>
                </a:solidFill>
                <a:cs typeface="B Lotus" panose="00000400000000000000" pitchFamily="2" charset="-78"/>
              </a:rPr>
              <a:t>Game development</a:t>
            </a:r>
            <a:endParaRPr lang="fa-IR" sz="1000" dirty="0">
              <a:solidFill>
                <a:srgbClr val="FFFFFF"/>
              </a:solidFill>
              <a:cs typeface="B Lotus" panose="00000400000000000000" pitchFamily="2" charset="-78"/>
            </a:endParaRPr>
          </a:p>
          <a:p>
            <a:pPr marL="628650" lvl="1" indent="-171450" algn="l">
              <a:buFont typeface="Arial" panose="020B0604020202020204" pitchFamily="34" charset="0"/>
              <a:buChar char="•"/>
            </a:pPr>
            <a:r>
              <a:rPr lang="en-US" sz="1000" dirty="0">
                <a:solidFill>
                  <a:srgbClr val="FFFFFF"/>
                </a:solidFill>
                <a:cs typeface="B Lotus" panose="00000400000000000000" pitchFamily="2" charset="-78"/>
              </a:rPr>
              <a:t>Construct3</a:t>
            </a:r>
            <a:r>
              <a:rPr lang="fa-IR" sz="1000" dirty="0">
                <a:solidFill>
                  <a:srgbClr val="FFFFFF"/>
                </a:solidFill>
                <a:cs typeface="B Lotus" panose="00000400000000000000" pitchFamily="2" charset="-78"/>
              </a:rPr>
              <a:t>  </a:t>
            </a:r>
            <a:r>
              <a:rPr lang="fa-IR" sz="1000" dirty="0">
                <a:cs typeface="B Lotus" panose="00000400000000000000" pitchFamily="2" charset="-78"/>
              </a:rPr>
              <a:t>🟩🟩🟩🟩⬜</a:t>
            </a:r>
          </a:p>
        </p:txBody>
      </p:sp>
      <p:sp>
        <p:nvSpPr>
          <p:cNvPr id="31" name="TextBox 30">
            <a:extLst>
              <a:ext uri="{FF2B5EF4-FFF2-40B4-BE49-F238E27FC236}">
                <a16:creationId xmlns:a16="http://schemas.microsoft.com/office/drawing/2014/main" id="{F719D1D4-894B-4C7D-9A54-EB9C306844C2}"/>
              </a:ext>
            </a:extLst>
          </p:cNvPr>
          <p:cNvSpPr txBox="1"/>
          <p:nvPr/>
        </p:nvSpPr>
        <p:spPr>
          <a:xfrm>
            <a:off x="-30117" y="8358356"/>
            <a:ext cx="2579797" cy="400110"/>
          </a:xfrm>
          <a:prstGeom prst="rect">
            <a:avLst/>
          </a:prstGeom>
          <a:noFill/>
        </p:spPr>
        <p:txBody>
          <a:bodyPr wrap="square" rtlCol="0">
            <a:spAutoFit/>
          </a:bodyPr>
          <a:lstStyle/>
          <a:p>
            <a:pPr marL="171450" indent="-171450" algn="l">
              <a:buFont typeface="Arial" panose="020B0604020202020204" pitchFamily="34" charset="0"/>
              <a:buChar char="•"/>
            </a:pPr>
            <a:r>
              <a:rPr lang="en-US" sz="1000" dirty="0">
                <a:solidFill>
                  <a:srgbClr val="FFFFFF"/>
                </a:solidFill>
                <a:cs typeface="B Lotus" panose="00000400000000000000" pitchFamily="2" charset="-78"/>
              </a:rPr>
              <a:t>Foreign Languages</a:t>
            </a:r>
            <a:endParaRPr lang="fa-IR" sz="1000" dirty="0">
              <a:solidFill>
                <a:srgbClr val="FFFFFF"/>
              </a:solidFill>
              <a:cs typeface="B Lotus" panose="00000400000000000000" pitchFamily="2" charset="-78"/>
            </a:endParaRPr>
          </a:p>
          <a:p>
            <a:pPr marL="628650" lvl="1" indent="-171450" algn="l">
              <a:buFont typeface="Arial" panose="020B0604020202020204" pitchFamily="34" charset="0"/>
              <a:buChar char="•"/>
            </a:pPr>
            <a:r>
              <a:rPr lang="en-US" sz="1000" dirty="0">
                <a:solidFill>
                  <a:srgbClr val="FFFFFF"/>
                </a:solidFill>
                <a:cs typeface="B Lotus" panose="00000400000000000000" pitchFamily="2" charset="-78"/>
              </a:rPr>
              <a:t>English</a:t>
            </a:r>
            <a:r>
              <a:rPr lang="fa-IR" sz="1000" dirty="0">
                <a:solidFill>
                  <a:srgbClr val="FFFFFF"/>
                </a:solidFill>
                <a:cs typeface="B Lotus" panose="00000400000000000000" pitchFamily="2" charset="-78"/>
              </a:rPr>
              <a:t> </a:t>
            </a:r>
            <a:r>
              <a:rPr lang="fa-IR" sz="1000" dirty="0">
                <a:cs typeface="B Lotus" panose="00000400000000000000" pitchFamily="2" charset="-78"/>
              </a:rPr>
              <a:t>🟩🟩🟩🟩⬜</a:t>
            </a:r>
          </a:p>
        </p:txBody>
      </p:sp>
      <p:sp>
        <p:nvSpPr>
          <p:cNvPr id="35" name="TextBox 34">
            <a:extLst>
              <a:ext uri="{FF2B5EF4-FFF2-40B4-BE49-F238E27FC236}">
                <a16:creationId xmlns:a16="http://schemas.microsoft.com/office/drawing/2014/main" id="{D51DF2FE-200D-4EA8-A16D-A191611BD0D6}"/>
              </a:ext>
            </a:extLst>
          </p:cNvPr>
          <p:cNvSpPr txBox="1"/>
          <p:nvPr/>
        </p:nvSpPr>
        <p:spPr>
          <a:xfrm>
            <a:off x="-37193" y="8812710"/>
            <a:ext cx="2579797" cy="400110"/>
          </a:xfrm>
          <a:prstGeom prst="rect">
            <a:avLst/>
          </a:prstGeom>
          <a:noFill/>
        </p:spPr>
        <p:txBody>
          <a:bodyPr wrap="square" rtlCol="0">
            <a:spAutoFit/>
          </a:bodyPr>
          <a:lstStyle/>
          <a:p>
            <a:pPr marL="171450" indent="-171450" algn="l">
              <a:buFont typeface="Arial" panose="020B0604020202020204" pitchFamily="34" charset="0"/>
              <a:buChar char="•"/>
            </a:pPr>
            <a:r>
              <a:rPr lang="en-US" sz="1000" dirty="0">
                <a:solidFill>
                  <a:srgbClr val="FFFFFF"/>
                </a:solidFill>
                <a:cs typeface="B Lotus" panose="00000400000000000000" pitchFamily="2" charset="-78"/>
              </a:rPr>
              <a:t>Database Design</a:t>
            </a:r>
            <a:endParaRPr lang="fa-IR" sz="1000" dirty="0">
              <a:solidFill>
                <a:srgbClr val="FFFFFF"/>
              </a:solidFill>
              <a:cs typeface="B Lotus" panose="00000400000000000000" pitchFamily="2" charset="-78"/>
            </a:endParaRPr>
          </a:p>
          <a:p>
            <a:pPr marL="628650" lvl="1" indent="-171450" algn="l">
              <a:buFont typeface="Arial" panose="020B0604020202020204" pitchFamily="34" charset="0"/>
              <a:buChar char="•"/>
            </a:pPr>
            <a:r>
              <a:rPr lang="en-US" sz="1000" dirty="0" err="1">
                <a:solidFill>
                  <a:srgbClr val="FFFFFF"/>
                </a:solidFill>
                <a:cs typeface="B Lotus" panose="00000400000000000000" pitchFamily="2" charset="-78"/>
              </a:rPr>
              <a:t>Postgresql</a:t>
            </a:r>
            <a:r>
              <a:rPr lang="fa-IR" sz="1000" dirty="0">
                <a:solidFill>
                  <a:srgbClr val="FFFFFF"/>
                </a:solidFill>
                <a:cs typeface="B Lotus" panose="00000400000000000000" pitchFamily="2" charset="-78"/>
              </a:rPr>
              <a:t> </a:t>
            </a:r>
            <a:r>
              <a:rPr lang="fa-IR" sz="1000" dirty="0">
                <a:cs typeface="B Lotus" panose="00000400000000000000" pitchFamily="2" charset="-78"/>
              </a:rPr>
              <a:t>🟩🟩🟩🟩⬜</a:t>
            </a:r>
          </a:p>
        </p:txBody>
      </p:sp>
      <p:sp>
        <p:nvSpPr>
          <p:cNvPr id="36" name="Text Placeholder 14">
            <a:extLst>
              <a:ext uri="{FF2B5EF4-FFF2-40B4-BE49-F238E27FC236}">
                <a16:creationId xmlns:a16="http://schemas.microsoft.com/office/drawing/2014/main" id="{35FEF60E-31E9-4302-AF63-AB7B1D553507}"/>
              </a:ext>
            </a:extLst>
          </p:cNvPr>
          <p:cNvSpPr txBox="1">
            <a:spLocks/>
          </p:cNvSpPr>
          <p:nvPr/>
        </p:nvSpPr>
        <p:spPr>
          <a:xfrm>
            <a:off x="2578100" y="152392"/>
            <a:ext cx="2505102" cy="303502"/>
          </a:xfrm>
          <a:prstGeom prst="rect">
            <a:avLst/>
          </a:prstGeom>
        </p:spPr>
        <p:txBody>
          <a:bodyPr vert="horz" lIns="91440" tIns="45720" rIns="91440" bIns="45720" rtlCol="0">
            <a:noAutofit/>
          </a:bodyPr>
          <a:lstStyle>
            <a:lvl1pPr marL="0" marR="0" indent="0" algn="l" defTabSz="685800" rtl="0" eaLnBrk="1" fontAlgn="auto" latinLnBrk="0" hangingPunct="1">
              <a:lnSpc>
                <a:spcPct val="100000"/>
              </a:lnSpc>
              <a:spcBef>
                <a:spcPts val="900"/>
              </a:spcBef>
              <a:spcAft>
                <a:spcPts val="0"/>
              </a:spcAft>
              <a:buClrTx/>
              <a:buSzTx/>
              <a:buFontTx/>
              <a:buNone/>
              <a:tabLst/>
              <a:defRPr sz="1125" kern="1200">
                <a:solidFill>
                  <a:srgbClr val="404040"/>
                </a:solidFill>
                <a:latin typeface="+mn-lt"/>
                <a:ea typeface="+mn-ea"/>
                <a:cs typeface="+mn-cs"/>
              </a:defRPr>
            </a:lvl1pPr>
            <a:lvl2pPr marL="342900" indent="0" algn="l" defTabSz="685800" rtl="0" eaLnBrk="1" latinLnBrk="0" hangingPunct="1">
              <a:lnSpc>
                <a:spcPct val="85000"/>
              </a:lnSpc>
              <a:spcBef>
                <a:spcPts val="450"/>
              </a:spcBef>
              <a:buFont typeface="Arial" pitchFamily="34" charset="0"/>
              <a:buNone/>
              <a:defRPr sz="900" kern="1200">
                <a:solidFill>
                  <a:schemeClr val="tx1">
                    <a:lumMod val="85000"/>
                    <a:lumOff val="15000"/>
                  </a:schemeClr>
                </a:solidFill>
                <a:latin typeface="+mn-lt"/>
                <a:ea typeface="+mn-ea"/>
                <a:cs typeface="+mn-cs"/>
              </a:defRPr>
            </a:lvl2pPr>
            <a:lvl3pPr marL="685800" indent="0" algn="l" defTabSz="685800" rtl="0" eaLnBrk="1" latinLnBrk="0" hangingPunct="1">
              <a:lnSpc>
                <a:spcPct val="85000"/>
              </a:lnSpc>
              <a:spcBef>
                <a:spcPts val="450"/>
              </a:spcBef>
              <a:buFont typeface="Arial" pitchFamily="34" charset="0"/>
              <a:buNone/>
              <a:defRPr sz="750" i="1" kern="1200">
                <a:solidFill>
                  <a:schemeClr val="tx1">
                    <a:lumMod val="85000"/>
                    <a:lumOff val="15000"/>
                  </a:schemeClr>
                </a:solidFill>
                <a:latin typeface="+mn-lt"/>
                <a:ea typeface="+mn-ea"/>
                <a:cs typeface="+mn-cs"/>
              </a:defRPr>
            </a:lvl3pPr>
            <a:lvl4pPr marL="10287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4pPr>
            <a:lvl5pPr marL="13716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5pPr>
            <a:lvl6pPr marL="17145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6pPr>
            <a:lvl7pPr marL="20574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7pPr>
            <a:lvl8pPr marL="24003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8pPr>
            <a:lvl9pPr marL="27432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9pPr>
          </a:lstStyle>
          <a:p>
            <a:pPr algn="ctr"/>
            <a:r>
              <a:rPr lang="en-US" sz="1800" dirty="0">
                <a:solidFill>
                  <a:srgbClr val="F03B5E"/>
                </a:solidFill>
                <a:latin typeface="Impact" panose="020B0806030902050204" pitchFamily="34" charset="0"/>
                <a:ea typeface="Tahoma" panose="020B0604030504040204" pitchFamily="34" charset="0"/>
                <a:cs typeface="Tahoma" panose="020B0604030504040204" pitchFamily="34" charset="0"/>
              </a:rPr>
              <a:t>👤Personal Information</a:t>
            </a:r>
          </a:p>
        </p:txBody>
      </p:sp>
      <p:sp>
        <p:nvSpPr>
          <p:cNvPr id="37" name="Text Placeholder 14">
            <a:extLst>
              <a:ext uri="{FF2B5EF4-FFF2-40B4-BE49-F238E27FC236}">
                <a16:creationId xmlns:a16="http://schemas.microsoft.com/office/drawing/2014/main" id="{50F788EB-5375-4B1A-9C83-9CD156BC3056}"/>
              </a:ext>
            </a:extLst>
          </p:cNvPr>
          <p:cNvSpPr txBox="1">
            <a:spLocks/>
          </p:cNvSpPr>
          <p:nvPr/>
        </p:nvSpPr>
        <p:spPr>
          <a:xfrm>
            <a:off x="2534984" y="1226991"/>
            <a:ext cx="2505102" cy="303502"/>
          </a:xfrm>
          <a:prstGeom prst="rect">
            <a:avLst/>
          </a:prstGeom>
        </p:spPr>
        <p:txBody>
          <a:bodyPr vert="horz" lIns="91440" tIns="45720" rIns="91440" bIns="45720" rtlCol="0">
            <a:noAutofit/>
          </a:bodyPr>
          <a:lstStyle>
            <a:lvl1pPr marL="0" marR="0" indent="0" algn="l" defTabSz="685800" rtl="0" eaLnBrk="1" fontAlgn="auto" latinLnBrk="0" hangingPunct="1">
              <a:lnSpc>
                <a:spcPct val="100000"/>
              </a:lnSpc>
              <a:spcBef>
                <a:spcPts val="900"/>
              </a:spcBef>
              <a:spcAft>
                <a:spcPts val="0"/>
              </a:spcAft>
              <a:buClrTx/>
              <a:buSzTx/>
              <a:buFontTx/>
              <a:buNone/>
              <a:tabLst/>
              <a:defRPr sz="1125" kern="1200">
                <a:solidFill>
                  <a:srgbClr val="404040"/>
                </a:solidFill>
                <a:latin typeface="+mn-lt"/>
                <a:ea typeface="+mn-ea"/>
                <a:cs typeface="+mn-cs"/>
              </a:defRPr>
            </a:lvl1pPr>
            <a:lvl2pPr marL="342900" indent="0" algn="l" defTabSz="685800" rtl="0" eaLnBrk="1" latinLnBrk="0" hangingPunct="1">
              <a:lnSpc>
                <a:spcPct val="85000"/>
              </a:lnSpc>
              <a:spcBef>
                <a:spcPts val="450"/>
              </a:spcBef>
              <a:buFont typeface="Arial" pitchFamily="34" charset="0"/>
              <a:buNone/>
              <a:defRPr sz="900" kern="1200">
                <a:solidFill>
                  <a:schemeClr val="tx1">
                    <a:lumMod val="85000"/>
                    <a:lumOff val="15000"/>
                  </a:schemeClr>
                </a:solidFill>
                <a:latin typeface="+mn-lt"/>
                <a:ea typeface="+mn-ea"/>
                <a:cs typeface="+mn-cs"/>
              </a:defRPr>
            </a:lvl2pPr>
            <a:lvl3pPr marL="685800" indent="0" algn="l" defTabSz="685800" rtl="0" eaLnBrk="1" latinLnBrk="0" hangingPunct="1">
              <a:lnSpc>
                <a:spcPct val="85000"/>
              </a:lnSpc>
              <a:spcBef>
                <a:spcPts val="450"/>
              </a:spcBef>
              <a:buFont typeface="Arial" pitchFamily="34" charset="0"/>
              <a:buNone/>
              <a:defRPr sz="750" i="1" kern="1200">
                <a:solidFill>
                  <a:schemeClr val="tx1">
                    <a:lumMod val="85000"/>
                    <a:lumOff val="15000"/>
                  </a:schemeClr>
                </a:solidFill>
                <a:latin typeface="+mn-lt"/>
                <a:ea typeface="+mn-ea"/>
                <a:cs typeface="+mn-cs"/>
              </a:defRPr>
            </a:lvl3pPr>
            <a:lvl4pPr marL="10287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4pPr>
            <a:lvl5pPr marL="13716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5pPr>
            <a:lvl6pPr marL="17145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6pPr>
            <a:lvl7pPr marL="20574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7pPr>
            <a:lvl8pPr marL="24003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8pPr>
            <a:lvl9pPr marL="27432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9pPr>
          </a:lstStyle>
          <a:p>
            <a:r>
              <a:rPr lang="fa-IR" sz="1800" dirty="0">
                <a:solidFill>
                  <a:srgbClr val="F03B5E"/>
                </a:solidFill>
                <a:cs typeface="B Titr" panose="00000700000000000000" pitchFamily="2" charset="-78"/>
              </a:rPr>
              <a:t>👁️ </a:t>
            </a:r>
            <a:r>
              <a:rPr lang="en-US" sz="1800" dirty="0">
                <a:solidFill>
                  <a:srgbClr val="F03B5E"/>
                </a:solidFill>
                <a:latin typeface="Impact" panose="020B0806030902050204" pitchFamily="34" charset="0"/>
                <a:ea typeface="Tahoma" panose="020B0604030504040204" pitchFamily="34" charset="0"/>
                <a:cs typeface="Tahoma" panose="020B0604030504040204" pitchFamily="34" charset="0"/>
              </a:rPr>
              <a:t>Summary</a:t>
            </a:r>
          </a:p>
        </p:txBody>
      </p:sp>
      <p:sp>
        <p:nvSpPr>
          <p:cNvPr id="38" name="Text Placeholder 14">
            <a:extLst>
              <a:ext uri="{FF2B5EF4-FFF2-40B4-BE49-F238E27FC236}">
                <a16:creationId xmlns:a16="http://schemas.microsoft.com/office/drawing/2014/main" id="{FDC598BC-A5CD-4834-8385-F9A0B4662548}"/>
              </a:ext>
            </a:extLst>
          </p:cNvPr>
          <p:cNvSpPr txBox="1">
            <a:spLocks/>
          </p:cNvSpPr>
          <p:nvPr/>
        </p:nvSpPr>
        <p:spPr>
          <a:xfrm>
            <a:off x="2549680" y="3543262"/>
            <a:ext cx="2505102" cy="303502"/>
          </a:xfrm>
          <a:prstGeom prst="rect">
            <a:avLst/>
          </a:prstGeom>
        </p:spPr>
        <p:txBody>
          <a:bodyPr vert="horz" lIns="91440" tIns="45720" rIns="91440" bIns="45720" rtlCol="0">
            <a:noAutofit/>
          </a:bodyPr>
          <a:lstStyle>
            <a:lvl1pPr marL="0" marR="0" indent="0" algn="l" defTabSz="685800" rtl="0" eaLnBrk="1" fontAlgn="auto" latinLnBrk="0" hangingPunct="1">
              <a:lnSpc>
                <a:spcPct val="100000"/>
              </a:lnSpc>
              <a:spcBef>
                <a:spcPts val="900"/>
              </a:spcBef>
              <a:spcAft>
                <a:spcPts val="0"/>
              </a:spcAft>
              <a:buClrTx/>
              <a:buSzTx/>
              <a:buFontTx/>
              <a:buNone/>
              <a:tabLst/>
              <a:defRPr sz="1125" kern="1200">
                <a:solidFill>
                  <a:srgbClr val="404040"/>
                </a:solidFill>
                <a:latin typeface="+mn-lt"/>
                <a:ea typeface="+mn-ea"/>
                <a:cs typeface="+mn-cs"/>
              </a:defRPr>
            </a:lvl1pPr>
            <a:lvl2pPr marL="342900" indent="0" algn="l" defTabSz="685800" rtl="0" eaLnBrk="1" latinLnBrk="0" hangingPunct="1">
              <a:lnSpc>
                <a:spcPct val="85000"/>
              </a:lnSpc>
              <a:spcBef>
                <a:spcPts val="450"/>
              </a:spcBef>
              <a:buFont typeface="Arial" pitchFamily="34" charset="0"/>
              <a:buNone/>
              <a:defRPr sz="900" kern="1200">
                <a:solidFill>
                  <a:schemeClr val="tx1">
                    <a:lumMod val="85000"/>
                    <a:lumOff val="15000"/>
                  </a:schemeClr>
                </a:solidFill>
                <a:latin typeface="+mn-lt"/>
                <a:ea typeface="+mn-ea"/>
                <a:cs typeface="+mn-cs"/>
              </a:defRPr>
            </a:lvl2pPr>
            <a:lvl3pPr marL="685800" indent="0" algn="l" defTabSz="685800" rtl="0" eaLnBrk="1" latinLnBrk="0" hangingPunct="1">
              <a:lnSpc>
                <a:spcPct val="85000"/>
              </a:lnSpc>
              <a:spcBef>
                <a:spcPts val="450"/>
              </a:spcBef>
              <a:buFont typeface="Arial" pitchFamily="34" charset="0"/>
              <a:buNone/>
              <a:defRPr sz="750" i="1" kern="1200">
                <a:solidFill>
                  <a:schemeClr val="tx1">
                    <a:lumMod val="85000"/>
                    <a:lumOff val="15000"/>
                  </a:schemeClr>
                </a:solidFill>
                <a:latin typeface="+mn-lt"/>
                <a:ea typeface="+mn-ea"/>
                <a:cs typeface="+mn-cs"/>
              </a:defRPr>
            </a:lvl3pPr>
            <a:lvl4pPr marL="10287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4pPr>
            <a:lvl5pPr marL="13716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5pPr>
            <a:lvl6pPr marL="17145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6pPr>
            <a:lvl7pPr marL="20574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7pPr>
            <a:lvl8pPr marL="24003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8pPr>
            <a:lvl9pPr marL="27432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9pPr>
          </a:lstStyle>
          <a:p>
            <a:r>
              <a:rPr lang="fa-IR" sz="1800" dirty="0">
                <a:solidFill>
                  <a:srgbClr val="F03B5E"/>
                </a:solidFill>
                <a:cs typeface="B Titr" panose="00000700000000000000" pitchFamily="2" charset="-78"/>
              </a:rPr>
              <a:t>👨‍🎓 </a:t>
            </a:r>
            <a:r>
              <a:rPr lang="en-US" sz="1800" dirty="0">
                <a:solidFill>
                  <a:srgbClr val="F03B5E"/>
                </a:solidFill>
                <a:latin typeface="Impact" panose="020B0806030902050204" pitchFamily="34" charset="0"/>
                <a:ea typeface="Tahoma" panose="020B0604030504040204" pitchFamily="34" charset="0"/>
                <a:cs typeface="Tahoma" panose="020B0604030504040204" pitchFamily="34" charset="0"/>
              </a:rPr>
              <a:t>Education</a:t>
            </a:r>
          </a:p>
        </p:txBody>
      </p:sp>
      <p:sp>
        <p:nvSpPr>
          <p:cNvPr id="39" name="TextBox 38">
            <a:extLst>
              <a:ext uri="{FF2B5EF4-FFF2-40B4-BE49-F238E27FC236}">
                <a16:creationId xmlns:a16="http://schemas.microsoft.com/office/drawing/2014/main" id="{187A59AB-256A-4AE4-A93F-B82294829D73}"/>
              </a:ext>
            </a:extLst>
          </p:cNvPr>
          <p:cNvSpPr txBox="1"/>
          <p:nvPr/>
        </p:nvSpPr>
        <p:spPr>
          <a:xfrm>
            <a:off x="2578100" y="3920050"/>
            <a:ext cx="4279900" cy="1785104"/>
          </a:xfrm>
          <a:prstGeom prst="rect">
            <a:avLst/>
          </a:prstGeom>
          <a:noFill/>
        </p:spPr>
        <p:txBody>
          <a:bodyPr wrap="square" rtlCol="0">
            <a:spAutoFit/>
          </a:bodyPr>
          <a:lstStyle/>
          <a:p>
            <a:pPr lvl="1"/>
            <a:r>
              <a:rPr lang="en-US" sz="1100" dirty="0">
                <a:latin typeface="Californian FB" panose="0207040306080B030204" pitchFamily="18" charset="0"/>
              </a:rPr>
              <a:t>Bachelor of Computer Engineering</a:t>
            </a:r>
          </a:p>
          <a:p>
            <a:pPr lvl="1"/>
            <a:r>
              <a:rPr lang="en-US" sz="1100" dirty="0">
                <a:latin typeface="Californian FB" panose="0207040306080B030204" pitchFamily="18" charset="0"/>
              </a:rPr>
              <a:t>Major: Software Engineering</a:t>
            </a:r>
          </a:p>
          <a:p>
            <a:pPr lvl="1"/>
            <a:endParaRPr lang="en-US" sz="1100" dirty="0">
              <a:latin typeface="Californian FB" panose="0207040306080B030204" pitchFamily="18" charset="0"/>
            </a:endParaRPr>
          </a:p>
          <a:p>
            <a:pPr lvl="1"/>
            <a:r>
              <a:rPr lang="en-US" sz="1100" dirty="0">
                <a:latin typeface="Californian FB" panose="0207040306080B030204" pitchFamily="18" charset="0"/>
              </a:rPr>
              <a:t>University: Bu-Ali </a:t>
            </a:r>
            <a:r>
              <a:rPr lang="en-US" sz="1100" dirty="0" err="1">
                <a:latin typeface="Californian FB" panose="0207040306080B030204" pitchFamily="18" charset="0"/>
              </a:rPr>
              <a:t>Sina</a:t>
            </a:r>
            <a:r>
              <a:rPr lang="en-US" sz="1100" dirty="0">
                <a:latin typeface="Californian FB" panose="0207040306080B030204" pitchFamily="18" charset="0"/>
              </a:rPr>
              <a:t> University</a:t>
            </a:r>
          </a:p>
          <a:p>
            <a:pPr lvl="1"/>
            <a:r>
              <a:rPr lang="en-US" sz="1100" dirty="0">
                <a:latin typeface="Californian FB" panose="0207040306080B030204" pitchFamily="18" charset="0"/>
              </a:rPr>
              <a:t>Location: Hamedan, Iran</a:t>
            </a:r>
          </a:p>
          <a:p>
            <a:pPr lvl="1"/>
            <a:endParaRPr lang="en-US" sz="1100" dirty="0">
              <a:latin typeface="Californian FB" panose="0207040306080B030204" pitchFamily="18" charset="0"/>
            </a:endParaRPr>
          </a:p>
          <a:p>
            <a:pPr lvl="1"/>
            <a:r>
              <a:rPr lang="en-US" sz="1100" dirty="0">
                <a:latin typeface="Californian FB" panose="0207040306080B030204" pitchFamily="18" charset="0"/>
              </a:rPr>
              <a:t>Start Date: October 2023</a:t>
            </a:r>
          </a:p>
          <a:p>
            <a:pPr lvl="1"/>
            <a:r>
              <a:rPr lang="en-US" sz="1100" dirty="0">
                <a:latin typeface="Californian FB" panose="0207040306080B030204" pitchFamily="18" charset="0"/>
              </a:rPr>
              <a:t>Expected Graduation: Currently Enrolled</a:t>
            </a:r>
          </a:p>
          <a:p>
            <a:pPr lvl="1"/>
            <a:endParaRPr lang="en-US" sz="1100" dirty="0">
              <a:latin typeface="Californian FB" panose="0207040306080B030204" pitchFamily="18" charset="0"/>
            </a:endParaRPr>
          </a:p>
          <a:p>
            <a:pPr lvl="1"/>
            <a:r>
              <a:rPr lang="en-US" sz="1100" dirty="0">
                <a:latin typeface="Californian FB" panose="0207040306080B030204" pitchFamily="18" charset="0"/>
              </a:rPr>
              <a:t>GPA: 17.36 / 20</a:t>
            </a:r>
            <a:endParaRPr lang="fa-IR" sz="1100" dirty="0">
              <a:latin typeface="Californian FB" panose="0207040306080B030204" pitchFamily="18" charset="0"/>
              <a:cs typeface="B Lotus" panose="00000400000000000000" pitchFamily="2" charset="-78"/>
            </a:endParaRPr>
          </a:p>
        </p:txBody>
      </p:sp>
      <p:sp>
        <p:nvSpPr>
          <p:cNvPr id="40" name="Text Placeholder 14">
            <a:extLst>
              <a:ext uri="{FF2B5EF4-FFF2-40B4-BE49-F238E27FC236}">
                <a16:creationId xmlns:a16="http://schemas.microsoft.com/office/drawing/2014/main" id="{7A252A77-2F52-4498-8D5A-5151E39930AD}"/>
              </a:ext>
            </a:extLst>
          </p:cNvPr>
          <p:cNvSpPr txBox="1">
            <a:spLocks/>
          </p:cNvSpPr>
          <p:nvPr/>
        </p:nvSpPr>
        <p:spPr>
          <a:xfrm>
            <a:off x="2592565" y="5983562"/>
            <a:ext cx="2505102" cy="303502"/>
          </a:xfrm>
          <a:prstGeom prst="rect">
            <a:avLst/>
          </a:prstGeom>
        </p:spPr>
        <p:txBody>
          <a:bodyPr vert="horz" lIns="91440" tIns="45720" rIns="91440" bIns="45720" rtlCol="0">
            <a:noAutofit/>
          </a:bodyPr>
          <a:lstStyle>
            <a:lvl1pPr marL="0" marR="0" indent="0" algn="l" defTabSz="685800" rtl="0" eaLnBrk="1" fontAlgn="auto" latinLnBrk="0" hangingPunct="1">
              <a:lnSpc>
                <a:spcPct val="100000"/>
              </a:lnSpc>
              <a:spcBef>
                <a:spcPts val="900"/>
              </a:spcBef>
              <a:spcAft>
                <a:spcPts val="0"/>
              </a:spcAft>
              <a:buClrTx/>
              <a:buSzTx/>
              <a:buFontTx/>
              <a:buNone/>
              <a:tabLst/>
              <a:defRPr sz="1125" kern="1200">
                <a:solidFill>
                  <a:srgbClr val="404040"/>
                </a:solidFill>
                <a:latin typeface="+mn-lt"/>
                <a:ea typeface="+mn-ea"/>
                <a:cs typeface="+mn-cs"/>
              </a:defRPr>
            </a:lvl1pPr>
            <a:lvl2pPr marL="342900" indent="0" algn="l" defTabSz="685800" rtl="0" eaLnBrk="1" latinLnBrk="0" hangingPunct="1">
              <a:lnSpc>
                <a:spcPct val="85000"/>
              </a:lnSpc>
              <a:spcBef>
                <a:spcPts val="450"/>
              </a:spcBef>
              <a:buFont typeface="Arial" pitchFamily="34" charset="0"/>
              <a:buNone/>
              <a:defRPr sz="900" kern="1200">
                <a:solidFill>
                  <a:schemeClr val="tx1">
                    <a:lumMod val="85000"/>
                    <a:lumOff val="15000"/>
                  </a:schemeClr>
                </a:solidFill>
                <a:latin typeface="+mn-lt"/>
                <a:ea typeface="+mn-ea"/>
                <a:cs typeface="+mn-cs"/>
              </a:defRPr>
            </a:lvl2pPr>
            <a:lvl3pPr marL="685800" indent="0" algn="l" defTabSz="685800" rtl="0" eaLnBrk="1" latinLnBrk="0" hangingPunct="1">
              <a:lnSpc>
                <a:spcPct val="85000"/>
              </a:lnSpc>
              <a:spcBef>
                <a:spcPts val="450"/>
              </a:spcBef>
              <a:buFont typeface="Arial" pitchFamily="34" charset="0"/>
              <a:buNone/>
              <a:defRPr sz="750" i="1" kern="1200">
                <a:solidFill>
                  <a:schemeClr val="tx1">
                    <a:lumMod val="85000"/>
                    <a:lumOff val="15000"/>
                  </a:schemeClr>
                </a:solidFill>
                <a:latin typeface="+mn-lt"/>
                <a:ea typeface="+mn-ea"/>
                <a:cs typeface="+mn-cs"/>
              </a:defRPr>
            </a:lvl3pPr>
            <a:lvl4pPr marL="10287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4pPr>
            <a:lvl5pPr marL="13716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5pPr>
            <a:lvl6pPr marL="17145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6pPr>
            <a:lvl7pPr marL="20574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7pPr>
            <a:lvl8pPr marL="24003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8pPr>
            <a:lvl9pPr marL="27432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9pPr>
          </a:lstStyle>
          <a:p>
            <a:r>
              <a:rPr lang="fa-IR" sz="1800" dirty="0">
                <a:solidFill>
                  <a:srgbClr val="F03B5E"/>
                </a:solidFill>
                <a:latin typeface="Impact" panose="020B0806030902050204" pitchFamily="34" charset="0"/>
                <a:cs typeface="B Titr" panose="00000700000000000000" pitchFamily="2" charset="-78"/>
              </a:rPr>
              <a:t>👨‍💻</a:t>
            </a:r>
            <a:r>
              <a:rPr lang="en-US" sz="1800" dirty="0">
                <a:solidFill>
                  <a:srgbClr val="F03B5E"/>
                </a:solidFill>
                <a:latin typeface="Impact" panose="020B0806030902050204" pitchFamily="34" charset="0"/>
                <a:cs typeface="B Titr" panose="00000700000000000000" pitchFamily="2" charset="-78"/>
              </a:rPr>
              <a:t>Work experience</a:t>
            </a:r>
            <a:endParaRPr lang="en-US" sz="1800" dirty="0">
              <a:solidFill>
                <a:srgbClr val="F03B5E"/>
              </a:solidFill>
              <a:latin typeface="Impact" panose="020B0806030902050204" pitchFamily="34" charset="0"/>
              <a:ea typeface="Tahoma" panose="020B0604030504040204" pitchFamily="34" charset="0"/>
              <a:cs typeface="Tahoma" panose="020B0604030504040204" pitchFamily="34" charset="0"/>
            </a:endParaRPr>
          </a:p>
        </p:txBody>
      </p:sp>
      <p:sp>
        <p:nvSpPr>
          <p:cNvPr id="41" name="TextBox 40">
            <a:extLst>
              <a:ext uri="{FF2B5EF4-FFF2-40B4-BE49-F238E27FC236}">
                <a16:creationId xmlns:a16="http://schemas.microsoft.com/office/drawing/2014/main" id="{9B391DFA-7893-45B9-9CF0-669D917D1234}"/>
              </a:ext>
            </a:extLst>
          </p:cNvPr>
          <p:cNvSpPr txBox="1"/>
          <p:nvPr/>
        </p:nvSpPr>
        <p:spPr>
          <a:xfrm>
            <a:off x="2556518" y="6566168"/>
            <a:ext cx="4279900" cy="2123658"/>
          </a:xfrm>
          <a:prstGeom prst="rect">
            <a:avLst/>
          </a:prstGeom>
          <a:noFill/>
        </p:spPr>
        <p:txBody>
          <a:bodyPr wrap="square" rtlCol="0">
            <a:spAutoFit/>
          </a:bodyPr>
          <a:lstStyle/>
          <a:p>
            <a:pPr lvl="1"/>
            <a:r>
              <a:rPr lang="en-US" sz="1100" dirty="0">
                <a:latin typeface="Californian FB" panose="0207040306080B030204" pitchFamily="18" charset="0"/>
              </a:rPr>
              <a:t>Game Development Trainee</a:t>
            </a:r>
          </a:p>
          <a:p>
            <a:pPr lvl="1"/>
            <a:r>
              <a:rPr lang="en-US" sz="1100" dirty="0" err="1">
                <a:latin typeface="Californian FB" panose="0207040306080B030204" pitchFamily="18" charset="0"/>
              </a:rPr>
              <a:t>Noavaran</a:t>
            </a:r>
            <a:r>
              <a:rPr lang="en-US" sz="1100" dirty="0">
                <a:latin typeface="Californian FB" panose="0207040306080B030204" pitchFamily="18" charset="0"/>
              </a:rPr>
              <a:t> </a:t>
            </a:r>
            <a:r>
              <a:rPr lang="en-US" sz="1100" dirty="0" err="1">
                <a:latin typeface="Californian FB" panose="0207040306080B030204" pitchFamily="18" charset="0"/>
              </a:rPr>
              <a:t>khalagh</a:t>
            </a:r>
            <a:r>
              <a:rPr lang="en-US" sz="1100" dirty="0">
                <a:latin typeface="Californian FB" panose="0207040306080B030204" pitchFamily="18" charset="0"/>
              </a:rPr>
              <a:t> </a:t>
            </a:r>
            <a:r>
              <a:rPr lang="en-US" sz="1100" dirty="0" err="1">
                <a:latin typeface="Californian FB" panose="0207040306080B030204" pitchFamily="18" charset="0"/>
              </a:rPr>
              <a:t>pendar</a:t>
            </a:r>
            <a:r>
              <a:rPr lang="en-US" sz="1100" dirty="0">
                <a:latin typeface="Californian FB" panose="0207040306080B030204" pitchFamily="18" charset="0"/>
              </a:rPr>
              <a:t> Co. – Hamedan, Iran</a:t>
            </a:r>
          </a:p>
          <a:p>
            <a:pPr lvl="1"/>
            <a:endParaRPr lang="en-US" sz="1100" dirty="0">
              <a:latin typeface="Californian FB" panose="0207040306080B030204" pitchFamily="18" charset="0"/>
            </a:endParaRPr>
          </a:p>
          <a:p>
            <a:pPr lvl="1"/>
            <a:r>
              <a:rPr lang="en-US" sz="1100" dirty="0">
                <a:latin typeface="Californian FB" panose="0207040306080B030204" pitchFamily="18" charset="0"/>
              </a:rPr>
              <a:t>Jul 2023 – Jun 2024</a:t>
            </a:r>
          </a:p>
          <a:p>
            <a:pPr lvl="1"/>
            <a:endParaRPr lang="en-US" sz="1100" dirty="0">
              <a:latin typeface="Californian FB" panose="0207040306080B030204" pitchFamily="18" charset="0"/>
            </a:endParaRPr>
          </a:p>
          <a:p>
            <a:pPr lvl="1"/>
            <a:r>
              <a:rPr lang="en-US" sz="1100" dirty="0">
                <a:latin typeface="Californian FB" panose="0207040306080B030204" pitchFamily="18" charset="0"/>
              </a:rPr>
              <a:t>• Learned game development using the Construct 3 game engine.</a:t>
            </a:r>
          </a:p>
          <a:p>
            <a:pPr lvl="1"/>
            <a:r>
              <a:rPr lang="en-US" sz="1100" dirty="0">
                <a:latin typeface="Californian FB" panose="0207040306080B030204" pitchFamily="18" charset="0"/>
              </a:rPr>
              <a:t>• Designed and developed 2D web-based games.</a:t>
            </a:r>
          </a:p>
          <a:p>
            <a:pPr lvl="1"/>
            <a:r>
              <a:rPr lang="en-US" sz="1100" dirty="0">
                <a:latin typeface="Californian FB" panose="0207040306080B030204" pitchFamily="18" charset="0"/>
              </a:rPr>
              <a:t>• Gained hands-on experience with game development logic and systems.</a:t>
            </a:r>
          </a:p>
          <a:p>
            <a:pPr lvl="1"/>
            <a:r>
              <a:rPr lang="en-US" sz="1100" dirty="0">
                <a:latin typeface="Californian FB" panose="0207040306080B030204" pitchFamily="18" charset="0"/>
              </a:rPr>
              <a:t>• Participated in game development projects and team collaboration.</a:t>
            </a:r>
            <a:endParaRPr lang="fa-IR" sz="1100" dirty="0">
              <a:latin typeface="Californian FB" panose="0207040306080B030204" pitchFamily="18" charset="0"/>
              <a:cs typeface="B Lotus" panose="00000400000000000000" pitchFamily="2" charset="-78"/>
            </a:endParaRPr>
          </a:p>
        </p:txBody>
      </p:sp>
    </p:spTree>
    <p:extLst>
      <p:ext uri="{BB962C8B-B14F-4D97-AF65-F5344CB8AC3E}">
        <p14:creationId xmlns:p14="http://schemas.microsoft.com/office/powerpoint/2010/main" val="3403934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289796AC-6B0C-4DEF-8AB5-2C90A323CC61}"/>
              </a:ext>
            </a:extLst>
          </p:cNvPr>
          <p:cNvSpPr txBox="1">
            <a:spLocks/>
          </p:cNvSpPr>
          <p:nvPr/>
        </p:nvSpPr>
        <p:spPr>
          <a:xfrm>
            <a:off x="145732" y="174022"/>
            <a:ext cx="1911668" cy="480275"/>
          </a:xfrm>
          <a:prstGeom prst="rect">
            <a:avLst/>
          </a:prstGeom>
        </p:spPr>
        <p:txBody>
          <a:bodyPr vert="horz" lIns="91440" tIns="45720" rIns="91440" bIns="45720" rtlCol="0">
            <a:normAutofit/>
          </a:bodyPr>
          <a:lstStyle>
            <a:lvl1pPr marL="0" marR="0" indent="0" algn="l" defTabSz="685800" rtl="0" eaLnBrk="1" fontAlgn="auto" latinLnBrk="0" hangingPunct="1">
              <a:lnSpc>
                <a:spcPct val="100000"/>
              </a:lnSpc>
              <a:spcBef>
                <a:spcPts val="900"/>
              </a:spcBef>
              <a:spcAft>
                <a:spcPts val="0"/>
              </a:spcAft>
              <a:buClrTx/>
              <a:buSzTx/>
              <a:buFontTx/>
              <a:buNone/>
              <a:tabLst/>
              <a:defRPr sz="1125" kern="1200">
                <a:solidFill>
                  <a:srgbClr val="404040"/>
                </a:solidFill>
                <a:latin typeface="+mn-lt"/>
                <a:ea typeface="+mn-ea"/>
                <a:cs typeface="+mn-cs"/>
              </a:defRPr>
            </a:lvl1pPr>
            <a:lvl2pPr marL="342900" indent="0" algn="l" defTabSz="685800" rtl="0" eaLnBrk="1" latinLnBrk="0" hangingPunct="1">
              <a:lnSpc>
                <a:spcPct val="85000"/>
              </a:lnSpc>
              <a:spcBef>
                <a:spcPts val="450"/>
              </a:spcBef>
              <a:buFont typeface="Arial" pitchFamily="34" charset="0"/>
              <a:buNone/>
              <a:defRPr sz="900" kern="1200">
                <a:solidFill>
                  <a:schemeClr val="tx1">
                    <a:lumMod val="85000"/>
                    <a:lumOff val="15000"/>
                  </a:schemeClr>
                </a:solidFill>
                <a:latin typeface="+mn-lt"/>
                <a:ea typeface="+mn-ea"/>
                <a:cs typeface="+mn-cs"/>
              </a:defRPr>
            </a:lvl2pPr>
            <a:lvl3pPr marL="685800" indent="0" algn="l" defTabSz="685800" rtl="0" eaLnBrk="1" latinLnBrk="0" hangingPunct="1">
              <a:lnSpc>
                <a:spcPct val="85000"/>
              </a:lnSpc>
              <a:spcBef>
                <a:spcPts val="450"/>
              </a:spcBef>
              <a:buFont typeface="Arial" pitchFamily="34" charset="0"/>
              <a:buNone/>
              <a:defRPr sz="750" i="1" kern="1200">
                <a:solidFill>
                  <a:schemeClr val="tx1">
                    <a:lumMod val="85000"/>
                    <a:lumOff val="15000"/>
                  </a:schemeClr>
                </a:solidFill>
                <a:latin typeface="+mn-lt"/>
                <a:ea typeface="+mn-ea"/>
                <a:cs typeface="+mn-cs"/>
              </a:defRPr>
            </a:lvl3pPr>
            <a:lvl4pPr marL="10287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4pPr>
            <a:lvl5pPr marL="13716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5pPr>
            <a:lvl6pPr marL="17145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6pPr>
            <a:lvl7pPr marL="20574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7pPr>
            <a:lvl8pPr marL="24003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8pPr>
            <a:lvl9pPr marL="2743200" indent="0" algn="l" defTabSz="685800" rtl="0" eaLnBrk="1" latinLnBrk="0" hangingPunct="1">
              <a:lnSpc>
                <a:spcPct val="85000"/>
              </a:lnSpc>
              <a:spcBef>
                <a:spcPts val="450"/>
              </a:spcBef>
              <a:buFont typeface="Arial" pitchFamily="34" charset="0"/>
              <a:buNone/>
              <a:defRPr sz="675" kern="1200">
                <a:solidFill>
                  <a:schemeClr val="tx1">
                    <a:lumMod val="85000"/>
                    <a:lumOff val="15000"/>
                  </a:schemeClr>
                </a:solidFill>
                <a:latin typeface="+mn-lt"/>
                <a:ea typeface="+mn-ea"/>
                <a:cs typeface="+mn-cs"/>
              </a:defRPr>
            </a:lvl9pPr>
          </a:lstStyle>
          <a:p>
            <a:pPr algn="ctr"/>
            <a:r>
              <a:rPr lang="en-US" sz="2400" dirty="0">
                <a:solidFill>
                  <a:srgbClr val="F03B5E"/>
                </a:solidFill>
                <a:latin typeface="Impact" panose="020B0806030902050204" pitchFamily="34" charset="0"/>
                <a:cs typeface="B Titr" panose="00000700000000000000" pitchFamily="2" charset="-78"/>
              </a:rPr>
              <a:t>🗃️ Projects</a:t>
            </a:r>
          </a:p>
        </p:txBody>
      </p:sp>
      <p:sp>
        <p:nvSpPr>
          <p:cNvPr id="9" name="Rectangle 8">
            <a:extLst>
              <a:ext uri="{FF2B5EF4-FFF2-40B4-BE49-F238E27FC236}">
                <a16:creationId xmlns:a16="http://schemas.microsoft.com/office/drawing/2014/main" id="{32928D0F-1731-447A-9CBA-F19C2AE0977D}"/>
              </a:ext>
            </a:extLst>
          </p:cNvPr>
          <p:cNvSpPr/>
          <p:nvPr/>
        </p:nvSpPr>
        <p:spPr>
          <a:xfrm>
            <a:off x="3637728" y="1138772"/>
            <a:ext cx="2617208" cy="2093378"/>
          </a:xfrm>
          <a:prstGeom prst="rect">
            <a:avLst/>
          </a:prstGeom>
          <a:solidFill>
            <a:srgbClr val="F03B5E"/>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a:latin typeface="Bodoni MT Condensed" panose="02070606080606020203" pitchFamily="18" charset="0"/>
                <a:cs typeface="B Lotus" panose="00000400000000000000" pitchFamily="2" charset="-78"/>
              </a:rPr>
              <a:t>WOOD NUTS AND BOLT PUZZLE</a:t>
            </a:r>
            <a:endParaRPr lang="fa-IR" sz="1400" b="1" dirty="0">
              <a:latin typeface="Bodoni MT Condensed" panose="02070606080606020203" pitchFamily="18" charset="0"/>
              <a:cs typeface="B Lotus" panose="00000400000000000000" pitchFamily="2" charset="-78"/>
            </a:endParaRPr>
          </a:p>
          <a:p>
            <a:pPr algn="l"/>
            <a:endParaRPr lang="en-US" sz="1400" b="1"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Employer : </a:t>
            </a:r>
            <a:r>
              <a:rPr lang="en-US" sz="1100" dirty="0" err="1">
                <a:latin typeface="Californian FB" panose="0207040306080B030204" pitchFamily="18" charset="0"/>
              </a:rPr>
              <a:t>Noavaran</a:t>
            </a:r>
            <a:r>
              <a:rPr lang="en-US" sz="1100" dirty="0">
                <a:latin typeface="Californian FB" panose="0207040306080B030204" pitchFamily="18" charset="0"/>
              </a:rPr>
              <a:t> </a:t>
            </a:r>
            <a:r>
              <a:rPr lang="en-US" sz="1100" dirty="0" err="1">
                <a:latin typeface="Californian FB" panose="0207040306080B030204" pitchFamily="18" charset="0"/>
              </a:rPr>
              <a:t>khalagh</a:t>
            </a:r>
            <a:r>
              <a:rPr lang="en-US" sz="1100" dirty="0">
                <a:latin typeface="Californian FB" panose="0207040306080B030204" pitchFamily="18" charset="0"/>
              </a:rPr>
              <a:t> </a:t>
            </a:r>
            <a:r>
              <a:rPr lang="en-US" sz="1100" dirty="0" err="1">
                <a:latin typeface="Californian FB" panose="0207040306080B030204" pitchFamily="18" charset="0"/>
              </a:rPr>
              <a:t>pendar</a:t>
            </a:r>
            <a:r>
              <a:rPr lang="en-US" sz="1100" dirty="0">
                <a:latin typeface="Californian FB" panose="0207040306080B030204" pitchFamily="18" charset="0"/>
              </a:rPr>
              <a:t> </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Date : March 2024</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Explanation : 2D web-based game implemented with Construct3 game engine</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Link :</a:t>
            </a:r>
          </a:p>
          <a:p>
            <a:pPr algn="l"/>
            <a:r>
              <a:rPr lang="en-US" sz="1100" dirty="0">
                <a:solidFill>
                  <a:srgbClr val="002060"/>
                </a:solidFill>
                <a:latin typeface="Bodoni MT Condensed" panose="02070606080606020203" pitchFamily="18" charset="0"/>
                <a:cs typeface="B Lotus" panose="00000400000000000000" pitchFamily="2" charset="-78"/>
                <a:hlinkClick r:id="rId2">
                  <a:extLst>
                    <a:ext uri="{A12FA001-AC4F-418D-AE19-62706E023703}">
                      <ahyp:hlinkClr xmlns:ahyp="http://schemas.microsoft.com/office/drawing/2018/hyperlinkcolor" val="tx"/>
                    </a:ext>
                  </a:extLst>
                </a:hlinkClick>
              </a:rPr>
              <a:t>see project</a:t>
            </a:r>
            <a:endParaRPr lang="fa-IR" sz="1100" dirty="0">
              <a:solidFill>
                <a:srgbClr val="002060"/>
              </a:solidFill>
              <a:latin typeface="Bodoni MT Condensed" panose="02070606080606020203" pitchFamily="18" charset="0"/>
              <a:cs typeface="B Lotus" panose="00000400000000000000" pitchFamily="2" charset="-78"/>
            </a:endParaRPr>
          </a:p>
        </p:txBody>
      </p:sp>
      <p:sp>
        <p:nvSpPr>
          <p:cNvPr id="19" name="Rectangle 18">
            <a:extLst>
              <a:ext uri="{FF2B5EF4-FFF2-40B4-BE49-F238E27FC236}">
                <a16:creationId xmlns:a16="http://schemas.microsoft.com/office/drawing/2014/main" id="{F6C06B64-391A-4B7F-940F-D024FAEDAC2E}"/>
              </a:ext>
            </a:extLst>
          </p:cNvPr>
          <p:cNvSpPr/>
          <p:nvPr/>
        </p:nvSpPr>
        <p:spPr>
          <a:xfrm>
            <a:off x="603065" y="1138772"/>
            <a:ext cx="2617208" cy="2093378"/>
          </a:xfrm>
          <a:prstGeom prst="rect">
            <a:avLst/>
          </a:prstGeom>
          <a:solidFill>
            <a:srgbClr val="F03B5E"/>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a:latin typeface="Bodoni MT Condensed" panose="02070606080606020203" pitchFamily="18" charset="0"/>
                <a:cs typeface="B Lotus" panose="00000400000000000000" pitchFamily="2" charset="-78"/>
              </a:rPr>
              <a:t>Traffic Escape</a:t>
            </a:r>
            <a:endParaRPr lang="fa-IR" sz="1400" b="1" dirty="0">
              <a:latin typeface="Bodoni MT Condensed" panose="02070606080606020203" pitchFamily="18" charset="0"/>
              <a:cs typeface="B Lotus" panose="00000400000000000000" pitchFamily="2" charset="-78"/>
            </a:endParaRPr>
          </a:p>
          <a:p>
            <a:pPr algn="l"/>
            <a:endParaRPr lang="en-US" sz="1400" b="1"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Employer : </a:t>
            </a:r>
            <a:r>
              <a:rPr lang="en-US" sz="1100" dirty="0" err="1">
                <a:latin typeface="Californian FB" panose="0207040306080B030204" pitchFamily="18" charset="0"/>
              </a:rPr>
              <a:t>Noavaran</a:t>
            </a:r>
            <a:r>
              <a:rPr lang="en-US" sz="1100" dirty="0">
                <a:latin typeface="Californian FB" panose="0207040306080B030204" pitchFamily="18" charset="0"/>
              </a:rPr>
              <a:t> </a:t>
            </a:r>
            <a:r>
              <a:rPr lang="en-US" sz="1100" dirty="0" err="1">
                <a:latin typeface="Californian FB" panose="0207040306080B030204" pitchFamily="18" charset="0"/>
              </a:rPr>
              <a:t>khalagh</a:t>
            </a:r>
            <a:r>
              <a:rPr lang="en-US" sz="1100" dirty="0">
                <a:latin typeface="Californian FB" panose="0207040306080B030204" pitchFamily="18" charset="0"/>
              </a:rPr>
              <a:t> </a:t>
            </a:r>
            <a:r>
              <a:rPr lang="en-US" sz="1100" dirty="0" err="1">
                <a:latin typeface="Californian FB" panose="0207040306080B030204" pitchFamily="18" charset="0"/>
              </a:rPr>
              <a:t>pendar</a:t>
            </a:r>
            <a:r>
              <a:rPr lang="en-US" sz="1100" dirty="0">
                <a:latin typeface="Californian FB" panose="0207040306080B030204" pitchFamily="18" charset="0"/>
              </a:rPr>
              <a:t> </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Date : March 2025</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Explanation : 2D web-based game implemented with Construct3 game engine</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Link :</a:t>
            </a:r>
          </a:p>
          <a:p>
            <a:pPr algn="l"/>
            <a:r>
              <a:rPr lang="en-US" sz="1100" dirty="0">
                <a:solidFill>
                  <a:srgbClr val="002060"/>
                </a:solidFill>
                <a:latin typeface="Bodoni MT Condensed" panose="02070606080606020203" pitchFamily="18" charset="0"/>
                <a:cs typeface="B Lotus" panose="00000400000000000000" pitchFamily="2" charset="-78"/>
                <a:hlinkClick r:id="rId3">
                  <a:extLst>
                    <a:ext uri="{A12FA001-AC4F-418D-AE19-62706E023703}">
                      <ahyp:hlinkClr xmlns:ahyp="http://schemas.microsoft.com/office/drawing/2018/hyperlinkcolor" val="tx"/>
                    </a:ext>
                  </a:extLst>
                </a:hlinkClick>
              </a:rPr>
              <a:t>see project</a:t>
            </a:r>
            <a:endParaRPr lang="fa-IR" sz="1100" dirty="0">
              <a:solidFill>
                <a:srgbClr val="002060"/>
              </a:solidFill>
              <a:latin typeface="Bodoni MT Condensed" panose="02070606080606020203" pitchFamily="18" charset="0"/>
              <a:cs typeface="B Lotus" panose="00000400000000000000" pitchFamily="2" charset="-78"/>
            </a:endParaRPr>
          </a:p>
        </p:txBody>
      </p:sp>
      <p:sp>
        <p:nvSpPr>
          <p:cNvPr id="20" name="Rectangle 19">
            <a:extLst>
              <a:ext uri="{FF2B5EF4-FFF2-40B4-BE49-F238E27FC236}">
                <a16:creationId xmlns:a16="http://schemas.microsoft.com/office/drawing/2014/main" id="{A7E0F78B-E162-46AE-9C7D-F4FA8555FAEE}"/>
              </a:ext>
            </a:extLst>
          </p:cNvPr>
          <p:cNvSpPr/>
          <p:nvPr/>
        </p:nvSpPr>
        <p:spPr>
          <a:xfrm>
            <a:off x="3637728" y="3576925"/>
            <a:ext cx="2617208" cy="2093378"/>
          </a:xfrm>
          <a:prstGeom prst="rect">
            <a:avLst/>
          </a:prstGeom>
          <a:solidFill>
            <a:srgbClr val="F03B5E"/>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err="1">
                <a:latin typeface="Bodoni MT Condensed" panose="02070606080606020203" pitchFamily="18" charset="0"/>
                <a:cs typeface="B Lotus" panose="00000400000000000000" pitchFamily="2" charset="-78"/>
              </a:rPr>
              <a:t>Rakab</a:t>
            </a:r>
            <a:endParaRPr lang="fa-IR" sz="1400" b="1" dirty="0">
              <a:latin typeface="Bodoni MT Condensed" panose="02070606080606020203" pitchFamily="18" charset="0"/>
              <a:cs typeface="B Lotus" panose="00000400000000000000" pitchFamily="2" charset="-78"/>
            </a:endParaRPr>
          </a:p>
          <a:p>
            <a:pPr algn="l"/>
            <a:endParaRPr lang="en-US" sz="1400" b="1"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Employer : Academic Project</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Date : July 2024</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Explanation : A terminal boardgame as final project of “advance Programming” course , implemented with CPP</a:t>
            </a:r>
          </a:p>
          <a:p>
            <a:pPr algn="l"/>
            <a:r>
              <a:rPr lang="en-US" sz="1100" dirty="0">
                <a:latin typeface="Bodoni MT Condensed" panose="02070606080606020203" pitchFamily="18" charset="0"/>
                <a:cs typeface="B Lotus" panose="00000400000000000000" pitchFamily="2" charset="-78"/>
              </a:rPr>
              <a:t>Link :</a:t>
            </a:r>
          </a:p>
          <a:p>
            <a:pPr algn="l"/>
            <a:r>
              <a:rPr lang="en-US" sz="1100" dirty="0">
                <a:solidFill>
                  <a:srgbClr val="002060"/>
                </a:solidFill>
                <a:latin typeface="Bodoni MT Condensed" panose="02070606080606020203" pitchFamily="18" charset="0"/>
                <a:cs typeface="B Lotus" panose="00000400000000000000" pitchFamily="2" charset="-78"/>
                <a:hlinkClick r:id="rId4">
                  <a:extLst>
                    <a:ext uri="{A12FA001-AC4F-418D-AE19-62706E023703}">
                      <ahyp:hlinkClr xmlns:ahyp="http://schemas.microsoft.com/office/drawing/2018/hyperlinkcolor" val="tx"/>
                    </a:ext>
                  </a:extLst>
                </a:hlinkClick>
              </a:rPr>
              <a:t>see project</a:t>
            </a:r>
            <a:endParaRPr lang="fa-IR" sz="1100" dirty="0">
              <a:solidFill>
                <a:srgbClr val="002060"/>
              </a:solidFill>
              <a:latin typeface="Bodoni MT Condensed" panose="02070606080606020203" pitchFamily="18" charset="0"/>
              <a:cs typeface="B Lotus" panose="00000400000000000000" pitchFamily="2" charset="-78"/>
            </a:endParaRPr>
          </a:p>
        </p:txBody>
      </p:sp>
      <p:sp>
        <p:nvSpPr>
          <p:cNvPr id="21" name="Rectangle 20">
            <a:extLst>
              <a:ext uri="{FF2B5EF4-FFF2-40B4-BE49-F238E27FC236}">
                <a16:creationId xmlns:a16="http://schemas.microsoft.com/office/drawing/2014/main" id="{0042617F-FCFA-4CDD-907D-38944811C4B1}"/>
              </a:ext>
            </a:extLst>
          </p:cNvPr>
          <p:cNvSpPr/>
          <p:nvPr/>
        </p:nvSpPr>
        <p:spPr>
          <a:xfrm>
            <a:off x="603065" y="3576925"/>
            <a:ext cx="2617208" cy="2093378"/>
          </a:xfrm>
          <a:prstGeom prst="rect">
            <a:avLst/>
          </a:prstGeom>
          <a:solidFill>
            <a:srgbClr val="F03B5E"/>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a:latin typeface="Bodoni MT Condensed" panose="02070606080606020203" pitchFamily="18" charset="0"/>
                <a:cs typeface="B Lotus" panose="00000400000000000000" pitchFamily="2" charset="-78"/>
              </a:rPr>
              <a:t>Final Fight</a:t>
            </a:r>
            <a:endParaRPr lang="fa-IR" sz="1400" b="1" dirty="0">
              <a:latin typeface="Bodoni MT Condensed" panose="02070606080606020203" pitchFamily="18" charset="0"/>
              <a:cs typeface="B Lotus" panose="00000400000000000000" pitchFamily="2" charset="-78"/>
            </a:endParaRPr>
          </a:p>
          <a:p>
            <a:pPr algn="l"/>
            <a:endParaRPr lang="en-US" sz="1400" b="1"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Employer : Academic Project</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Date : December 2023</a:t>
            </a:r>
          </a:p>
          <a:p>
            <a:pPr algn="l"/>
            <a:r>
              <a:rPr lang="en-US" sz="1100" dirty="0">
                <a:latin typeface="Bodoni MT Condensed" panose="02070606080606020203" pitchFamily="18" charset="0"/>
                <a:cs typeface="B Lotus" panose="00000400000000000000" pitchFamily="2" charset="-78"/>
              </a:rPr>
              <a:t>Explanation : a terminal game as final project of “basic programming” course , implemented with CPP</a:t>
            </a:r>
          </a:p>
          <a:p>
            <a:pPr algn="l"/>
            <a:r>
              <a:rPr lang="en-US" sz="1100" dirty="0">
                <a:latin typeface="Bodoni MT Condensed" panose="02070606080606020203" pitchFamily="18" charset="0"/>
                <a:cs typeface="B Lotus" panose="00000400000000000000" pitchFamily="2" charset="-78"/>
              </a:rPr>
              <a:t>Link :</a:t>
            </a:r>
          </a:p>
          <a:p>
            <a:pPr algn="l"/>
            <a:r>
              <a:rPr lang="en-US" sz="1100" dirty="0">
                <a:solidFill>
                  <a:srgbClr val="002060"/>
                </a:solidFill>
                <a:latin typeface="Bodoni MT Condensed" panose="02070606080606020203" pitchFamily="18" charset="0"/>
                <a:cs typeface="B Lotus" panose="00000400000000000000" pitchFamily="2" charset="-78"/>
                <a:hlinkClick r:id="rId5">
                  <a:extLst>
                    <a:ext uri="{A12FA001-AC4F-418D-AE19-62706E023703}">
                      <ahyp:hlinkClr xmlns:ahyp="http://schemas.microsoft.com/office/drawing/2018/hyperlinkcolor" val="tx"/>
                    </a:ext>
                  </a:extLst>
                </a:hlinkClick>
              </a:rPr>
              <a:t>see project</a:t>
            </a:r>
            <a:endParaRPr lang="fa-IR" sz="1100" dirty="0">
              <a:solidFill>
                <a:srgbClr val="002060"/>
              </a:solidFill>
              <a:latin typeface="Bodoni MT Condensed" panose="02070606080606020203" pitchFamily="18" charset="0"/>
              <a:cs typeface="B Lotus" panose="00000400000000000000" pitchFamily="2" charset="-78"/>
            </a:endParaRPr>
          </a:p>
        </p:txBody>
      </p:sp>
      <p:sp>
        <p:nvSpPr>
          <p:cNvPr id="22" name="Rectangle 21">
            <a:extLst>
              <a:ext uri="{FF2B5EF4-FFF2-40B4-BE49-F238E27FC236}">
                <a16:creationId xmlns:a16="http://schemas.microsoft.com/office/drawing/2014/main" id="{596EF7CD-72E9-438B-B724-6E07BFC4B6BC}"/>
              </a:ext>
            </a:extLst>
          </p:cNvPr>
          <p:cNvSpPr/>
          <p:nvPr/>
        </p:nvSpPr>
        <p:spPr>
          <a:xfrm>
            <a:off x="3637728" y="6015078"/>
            <a:ext cx="2617208" cy="2093378"/>
          </a:xfrm>
          <a:prstGeom prst="rect">
            <a:avLst/>
          </a:prstGeom>
          <a:solidFill>
            <a:srgbClr val="F03B5E"/>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a:latin typeface="Bodoni MT Condensed" panose="02070606080606020203" pitchFamily="18" charset="0"/>
                <a:cs typeface="B Lotus" panose="00000400000000000000" pitchFamily="2" charset="-78"/>
              </a:rPr>
              <a:t>Uni Shop</a:t>
            </a:r>
            <a:endParaRPr lang="fa-IR" sz="1400" b="1" dirty="0">
              <a:latin typeface="Bodoni MT Condensed" panose="02070606080606020203" pitchFamily="18" charset="0"/>
              <a:cs typeface="B Lotus" panose="00000400000000000000" pitchFamily="2" charset="-78"/>
            </a:endParaRPr>
          </a:p>
          <a:p>
            <a:pPr algn="l"/>
            <a:endParaRPr lang="en-US" sz="1400" b="1"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Employer : Academic Project</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Date : December 2025</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Explanation : Final project of “Database design” course consist of an EER , SQL code of schema , schema tables , python app to help user connect </a:t>
            </a:r>
            <a:r>
              <a:rPr lang="en-US" sz="1100" dirty="0" err="1">
                <a:latin typeface="Bodoni MT Condensed" panose="02070606080606020203" pitchFamily="18" charset="0"/>
                <a:cs typeface="B Lotus" panose="00000400000000000000" pitchFamily="2" charset="-78"/>
              </a:rPr>
              <a:t>db</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Link :</a:t>
            </a:r>
          </a:p>
          <a:p>
            <a:pPr algn="l"/>
            <a:r>
              <a:rPr lang="en-US" sz="1100" dirty="0">
                <a:solidFill>
                  <a:srgbClr val="002060"/>
                </a:solidFill>
                <a:latin typeface="Bodoni MT Condensed" panose="02070606080606020203" pitchFamily="18" charset="0"/>
                <a:cs typeface="B Lotus" panose="00000400000000000000" pitchFamily="2" charset="-78"/>
                <a:hlinkClick r:id="rId6">
                  <a:extLst>
                    <a:ext uri="{A12FA001-AC4F-418D-AE19-62706E023703}">
                      <ahyp:hlinkClr xmlns:ahyp="http://schemas.microsoft.com/office/drawing/2018/hyperlinkcolor" val="tx"/>
                    </a:ext>
                  </a:extLst>
                </a:hlinkClick>
              </a:rPr>
              <a:t>see project</a:t>
            </a:r>
            <a:endParaRPr lang="fa-IR" sz="1100" dirty="0">
              <a:solidFill>
                <a:srgbClr val="002060"/>
              </a:solidFill>
              <a:latin typeface="Bodoni MT Condensed" panose="02070606080606020203" pitchFamily="18" charset="0"/>
              <a:cs typeface="B Lotus" panose="00000400000000000000" pitchFamily="2" charset="-78"/>
            </a:endParaRPr>
          </a:p>
        </p:txBody>
      </p:sp>
      <p:sp>
        <p:nvSpPr>
          <p:cNvPr id="23" name="Rectangle 22">
            <a:extLst>
              <a:ext uri="{FF2B5EF4-FFF2-40B4-BE49-F238E27FC236}">
                <a16:creationId xmlns:a16="http://schemas.microsoft.com/office/drawing/2014/main" id="{E872B2D6-5871-4707-87A1-AA467956BF9C}"/>
              </a:ext>
            </a:extLst>
          </p:cNvPr>
          <p:cNvSpPr/>
          <p:nvPr/>
        </p:nvSpPr>
        <p:spPr>
          <a:xfrm>
            <a:off x="603065" y="6015078"/>
            <a:ext cx="2617208" cy="2093378"/>
          </a:xfrm>
          <a:prstGeom prst="rect">
            <a:avLst/>
          </a:prstGeom>
          <a:solidFill>
            <a:srgbClr val="F03B5E"/>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a:latin typeface="Bodoni MT Condensed" panose="02070606080606020203" pitchFamily="18" charset="0"/>
                <a:cs typeface="B Lotus" panose="00000400000000000000" pitchFamily="2" charset="-78"/>
              </a:rPr>
              <a:t>Vending Machine</a:t>
            </a:r>
            <a:endParaRPr lang="fa-IR" sz="1400" b="1" dirty="0">
              <a:latin typeface="Bodoni MT Condensed" panose="02070606080606020203" pitchFamily="18" charset="0"/>
              <a:cs typeface="B Lotus" panose="00000400000000000000" pitchFamily="2" charset="-78"/>
            </a:endParaRPr>
          </a:p>
          <a:p>
            <a:pPr algn="l"/>
            <a:endParaRPr lang="en-US" sz="1400" b="1"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Employer : Academic Project</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Date : December 2024</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Explanation : a hardware VHDL program to handle a vending machine ; final project of “Digital Circuits Design” course</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Link :</a:t>
            </a:r>
          </a:p>
          <a:p>
            <a:pPr algn="l"/>
            <a:r>
              <a:rPr lang="en-US" sz="1100" dirty="0">
                <a:solidFill>
                  <a:srgbClr val="002060"/>
                </a:solidFill>
                <a:latin typeface="Bodoni MT Condensed" panose="02070606080606020203" pitchFamily="18" charset="0"/>
                <a:cs typeface="B Lotus" panose="00000400000000000000" pitchFamily="2" charset="-78"/>
                <a:hlinkClick r:id="rId7">
                  <a:extLst>
                    <a:ext uri="{A12FA001-AC4F-418D-AE19-62706E023703}">
                      <ahyp:hlinkClr xmlns:ahyp="http://schemas.microsoft.com/office/drawing/2018/hyperlinkcolor" val="tx"/>
                    </a:ext>
                  </a:extLst>
                </a:hlinkClick>
              </a:rPr>
              <a:t>see project</a:t>
            </a:r>
            <a:endParaRPr lang="fa-IR" sz="1100" dirty="0">
              <a:solidFill>
                <a:srgbClr val="002060"/>
              </a:solidFill>
              <a:latin typeface="Bodoni MT Condensed" panose="02070606080606020203" pitchFamily="18" charset="0"/>
              <a:cs typeface="B Lotus" panose="00000400000000000000" pitchFamily="2" charset="-78"/>
            </a:endParaRPr>
          </a:p>
        </p:txBody>
      </p:sp>
    </p:spTree>
    <p:extLst>
      <p:ext uri="{BB962C8B-B14F-4D97-AF65-F5344CB8AC3E}">
        <p14:creationId xmlns:p14="http://schemas.microsoft.com/office/powerpoint/2010/main" val="2350847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928D0F-1731-447A-9CBA-F19C2AE0977D}"/>
              </a:ext>
            </a:extLst>
          </p:cNvPr>
          <p:cNvSpPr/>
          <p:nvPr/>
        </p:nvSpPr>
        <p:spPr>
          <a:xfrm>
            <a:off x="3637728" y="1138772"/>
            <a:ext cx="2617208" cy="2093378"/>
          </a:xfrm>
          <a:prstGeom prst="rect">
            <a:avLst/>
          </a:prstGeom>
          <a:solidFill>
            <a:srgbClr val="F03B5E"/>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a:latin typeface="Bodoni MT Condensed" panose="02070606080606020203" pitchFamily="18" charset="0"/>
                <a:cs typeface="B Lotus" panose="00000400000000000000" pitchFamily="2" charset="-78"/>
              </a:rPr>
              <a:t>Data Structures</a:t>
            </a:r>
            <a:endParaRPr lang="fa-IR" sz="1400" b="1" dirty="0">
              <a:latin typeface="Bodoni MT Condensed" panose="02070606080606020203" pitchFamily="18" charset="0"/>
              <a:cs typeface="B Lotus" panose="00000400000000000000" pitchFamily="2" charset="-78"/>
            </a:endParaRPr>
          </a:p>
          <a:p>
            <a:pPr algn="l"/>
            <a:endParaRPr lang="en-US" sz="1400" b="1"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Employer : Academic Project</a:t>
            </a:r>
            <a:r>
              <a:rPr lang="fa-IR" sz="1100" dirty="0">
                <a:latin typeface="Bodoni MT Condensed" panose="02070606080606020203" pitchFamily="18" charset="0"/>
                <a:cs typeface="B Lotus" panose="00000400000000000000" pitchFamily="2" charset="-78"/>
              </a:rPr>
              <a:t> </a:t>
            </a:r>
          </a:p>
          <a:p>
            <a:pPr algn="l"/>
            <a:r>
              <a:rPr lang="en-US" sz="1100" dirty="0">
                <a:latin typeface="Bodoni MT Condensed" panose="02070606080606020203" pitchFamily="18" charset="0"/>
                <a:cs typeface="B Lotus" panose="00000400000000000000" pitchFamily="2" charset="-78"/>
              </a:rPr>
              <a:t>Date : December 2024</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Explanation : important data structures implemented in CPP as exercises of “Data structures” course</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Link :</a:t>
            </a:r>
          </a:p>
          <a:p>
            <a:pPr algn="l"/>
            <a:r>
              <a:rPr lang="en-US" sz="1100" dirty="0">
                <a:solidFill>
                  <a:srgbClr val="002060"/>
                </a:solidFill>
                <a:latin typeface="Bodoni MT Condensed" panose="02070606080606020203" pitchFamily="18" charset="0"/>
                <a:cs typeface="B Lotus" panose="00000400000000000000" pitchFamily="2" charset="-78"/>
                <a:hlinkClick r:id="rId2">
                  <a:extLst>
                    <a:ext uri="{A12FA001-AC4F-418D-AE19-62706E023703}">
                      <ahyp:hlinkClr xmlns:ahyp="http://schemas.microsoft.com/office/drawing/2018/hyperlinkcolor" val="tx"/>
                    </a:ext>
                  </a:extLst>
                </a:hlinkClick>
              </a:rPr>
              <a:t>see project</a:t>
            </a:r>
            <a:endParaRPr lang="fa-IR" sz="1100" dirty="0">
              <a:solidFill>
                <a:srgbClr val="002060"/>
              </a:solidFill>
              <a:latin typeface="Bodoni MT Condensed" panose="02070606080606020203" pitchFamily="18" charset="0"/>
              <a:cs typeface="B Lotus" panose="00000400000000000000" pitchFamily="2" charset="-78"/>
            </a:endParaRPr>
          </a:p>
        </p:txBody>
      </p:sp>
      <p:sp>
        <p:nvSpPr>
          <p:cNvPr id="19" name="Rectangle 18">
            <a:extLst>
              <a:ext uri="{FF2B5EF4-FFF2-40B4-BE49-F238E27FC236}">
                <a16:creationId xmlns:a16="http://schemas.microsoft.com/office/drawing/2014/main" id="{F6C06B64-391A-4B7F-940F-D024FAEDAC2E}"/>
              </a:ext>
            </a:extLst>
          </p:cNvPr>
          <p:cNvSpPr/>
          <p:nvPr/>
        </p:nvSpPr>
        <p:spPr>
          <a:xfrm>
            <a:off x="603065" y="1138772"/>
            <a:ext cx="2617208" cy="2093378"/>
          </a:xfrm>
          <a:prstGeom prst="rect">
            <a:avLst/>
          </a:prstGeom>
          <a:solidFill>
            <a:srgbClr val="F03B5E"/>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a:latin typeface="Bodoni MT Condensed" panose="02070606080606020203" pitchFamily="18" charset="0"/>
                <a:cs typeface="B Lotus" panose="00000400000000000000" pitchFamily="2" charset="-78"/>
              </a:rPr>
              <a:t>Heap Allocator</a:t>
            </a:r>
            <a:endParaRPr lang="fa-IR" sz="1400" b="1" dirty="0">
              <a:latin typeface="Bodoni MT Condensed" panose="02070606080606020203" pitchFamily="18" charset="0"/>
              <a:cs typeface="B Lotus" panose="00000400000000000000" pitchFamily="2" charset="-78"/>
            </a:endParaRPr>
          </a:p>
          <a:p>
            <a:pPr algn="l"/>
            <a:endParaRPr lang="en-US" sz="1400" b="1"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Employer : Academic Project</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Date : May 2025</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Explanation : Final project of “Operating systems” course , implemented with C</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Link :</a:t>
            </a:r>
          </a:p>
          <a:p>
            <a:pPr algn="l"/>
            <a:r>
              <a:rPr lang="en-US" sz="1100" dirty="0">
                <a:solidFill>
                  <a:srgbClr val="002060"/>
                </a:solidFill>
                <a:latin typeface="Bodoni MT Condensed" panose="02070606080606020203" pitchFamily="18" charset="0"/>
                <a:cs typeface="B Lotus" panose="00000400000000000000" pitchFamily="2" charset="-78"/>
                <a:hlinkClick r:id="rId3">
                  <a:extLst>
                    <a:ext uri="{A12FA001-AC4F-418D-AE19-62706E023703}">
                      <ahyp:hlinkClr xmlns:ahyp="http://schemas.microsoft.com/office/drawing/2018/hyperlinkcolor" val="tx"/>
                    </a:ext>
                  </a:extLst>
                </a:hlinkClick>
              </a:rPr>
              <a:t>see project</a:t>
            </a:r>
            <a:endParaRPr lang="fa-IR" sz="1100" dirty="0">
              <a:solidFill>
                <a:srgbClr val="002060"/>
              </a:solidFill>
              <a:latin typeface="Bodoni MT Condensed" panose="02070606080606020203" pitchFamily="18" charset="0"/>
              <a:cs typeface="B Lotus" panose="00000400000000000000" pitchFamily="2" charset="-78"/>
            </a:endParaRPr>
          </a:p>
        </p:txBody>
      </p:sp>
      <p:sp>
        <p:nvSpPr>
          <p:cNvPr id="20" name="Rectangle 19">
            <a:extLst>
              <a:ext uri="{FF2B5EF4-FFF2-40B4-BE49-F238E27FC236}">
                <a16:creationId xmlns:a16="http://schemas.microsoft.com/office/drawing/2014/main" id="{A7E0F78B-E162-46AE-9C7D-F4FA8555FAEE}"/>
              </a:ext>
            </a:extLst>
          </p:cNvPr>
          <p:cNvSpPr/>
          <p:nvPr/>
        </p:nvSpPr>
        <p:spPr>
          <a:xfrm>
            <a:off x="3637728" y="3576925"/>
            <a:ext cx="2617208" cy="2093378"/>
          </a:xfrm>
          <a:prstGeom prst="rect">
            <a:avLst/>
          </a:prstGeom>
          <a:solidFill>
            <a:srgbClr val="F03B5E"/>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a:latin typeface="Bodoni MT Condensed" panose="02070606080606020203" pitchFamily="18" charset="0"/>
                <a:cs typeface="B Lotus" panose="00000400000000000000" pitchFamily="2" charset="-78"/>
              </a:rPr>
              <a:t>10 Small Python Projects</a:t>
            </a:r>
            <a:endParaRPr lang="fa-IR" sz="1400" b="1" dirty="0">
              <a:latin typeface="Bodoni MT Condensed" panose="02070606080606020203" pitchFamily="18" charset="0"/>
              <a:cs typeface="B Lotus" panose="00000400000000000000" pitchFamily="2" charset="-78"/>
            </a:endParaRPr>
          </a:p>
          <a:p>
            <a:pPr algn="l"/>
            <a:endParaRPr lang="en-US" sz="1400" b="1"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Employer : self-employed</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Date : March 2024</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Explanation : 10 small project of python (to help me in my learning path)</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Link :</a:t>
            </a:r>
          </a:p>
          <a:p>
            <a:pPr algn="l"/>
            <a:r>
              <a:rPr lang="en-US" sz="1100" dirty="0">
                <a:solidFill>
                  <a:srgbClr val="002060"/>
                </a:solidFill>
                <a:latin typeface="Bodoni MT Condensed" panose="02070606080606020203" pitchFamily="18" charset="0"/>
                <a:cs typeface="B Lotus" panose="00000400000000000000" pitchFamily="2" charset="-78"/>
                <a:hlinkClick r:id="rId4">
                  <a:extLst>
                    <a:ext uri="{A12FA001-AC4F-418D-AE19-62706E023703}">
                      <ahyp:hlinkClr xmlns:ahyp="http://schemas.microsoft.com/office/drawing/2018/hyperlinkcolor" val="tx"/>
                    </a:ext>
                  </a:extLst>
                </a:hlinkClick>
              </a:rPr>
              <a:t>see project</a:t>
            </a:r>
            <a:endParaRPr lang="fa-IR" sz="1100" dirty="0">
              <a:solidFill>
                <a:srgbClr val="002060"/>
              </a:solidFill>
              <a:latin typeface="Bodoni MT Condensed" panose="02070606080606020203" pitchFamily="18" charset="0"/>
              <a:cs typeface="B Lotus" panose="00000400000000000000" pitchFamily="2" charset="-78"/>
            </a:endParaRPr>
          </a:p>
        </p:txBody>
      </p:sp>
      <p:sp>
        <p:nvSpPr>
          <p:cNvPr id="5" name="Rectangle 4">
            <a:extLst>
              <a:ext uri="{FF2B5EF4-FFF2-40B4-BE49-F238E27FC236}">
                <a16:creationId xmlns:a16="http://schemas.microsoft.com/office/drawing/2014/main" id="{9F86DA20-4AE8-45F1-88B0-0D5D234498A0}"/>
              </a:ext>
            </a:extLst>
          </p:cNvPr>
          <p:cNvSpPr/>
          <p:nvPr/>
        </p:nvSpPr>
        <p:spPr>
          <a:xfrm>
            <a:off x="603065" y="3576925"/>
            <a:ext cx="2617208" cy="2093378"/>
          </a:xfrm>
          <a:prstGeom prst="rect">
            <a:avLst/>
          </a:prstGeom>
          <a:solidFill>
            <a:srgbClr val="F03B5E"/>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a:latin typeface="Bodoni MT Condensed" panose="02070606080606020203" pitchFamily="18" charset="0"/>
                <a:cs typeface="B Lotus" panose="00000400000000000000" pitchFamily="2" charset="-78"/>
              </a:rPr>
              <a:t>DBMS Storage manager</a:t>
            </a:r>
            <a:endParaRPr lang="fa-IR" sz="1400" b="1" dirty="0">
              <a:latin typeface="Bodoni MT Condensed" panose="02070606080606020203" pitchFamily="18" charset="0"/>
              <a:cs typeface="B Lotus" panose="00000400000000000000" pitchFamily="2" charset="-78"/>
            </a:endParaRPr>
          </a:p>
          <a:p>
            <a:pPr algn="l"/>
            <a:endParaRPr lang="en-US" sz="1400" b="1"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Employer : Academic Project</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Date : April 2026</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Explanation : storage manager system of a DBMS , implemented with CPP as a mini project for “implementation of Database systems” course</a:t>
            </a:r>
            <a:endParaRPr lang="fa-IR" sz="1100" dirty="0">
              <a:latin typeface="Bodoni MT Condensed" panose="02070606080606020203" pitchFamily="18" charset="0"/>
              <a:cs typeface="B Lotus" panose="00000400000000000000" pitchFamily="2" charset="-78"/>
            </a:endParaRPr>
          </a:p>
          <a:p>
            <a:pPr algn="l"/>
            <a:r>
              <a:rPr lang="en-US" sz="1100" dirty="0">
                <a:latin typeface="Bodoni MT Condensed" panose="02070606080606020203" pitchFamily="18" charset="0"/>
                <a:cs typeface="B Lotus" panose="00000400000000000000" pitchFamily="2" charset="-78"/>
              </a:rPr>
              <a:t>Link :</a:t>
            </a:r>
          </a:p>
          <a:p>
            <a:pPr algn="l"/>
            <a:r>
              <a:rPr lang="en-US" sz="1100" dirty="0">
                <a:solidFill>
                  <a:srgbClr val="002060"/>
                </a:solidFill>
                <a:latin typeface="Bodoni MT Condensed" panose="02070606080606020203" pitchFamily="18" charset="0"/>
                <a:cs typeface="B Lotus" panose="00000400000000000000" pitchFamily="2" charset="-78"/>
                <a:hlinkClick r:id="rId5">
                  <a:extLst>
                    <a:ext uri="{A12FA001-AC4F-418D-AE19-62706E023703}">
                      <ahyp:hlinkClr xmlns:ahyp="http://schemas.microsoft.com/office/drawing/2018/hyperlinkcolor" val="tx"/>
                    </a:ext>
                  </a:extLst>
                </a:hlinkClick>
              </a:rPr>
              <a:t>see project</a:t>
            </a:r>
            <a:endParaRPr lang="fa-IR" sz="1100" dirty="0">
              <a:solidFill>
                <a:srgbClr val="002060"/>
              </a:solidFill>
              <a:latin typeface="Bodoni MT Condensed" panose="02070606080606020203" pitchFamily="18" charset="0"/>
              <a:cs typeface="B Lotus" panose="00000400000000000000" pitchFamily="2" charset="-78"/>
            </a:endParaRPr>
          </a:p>
        </p:txBody>
      </p:sp>
    </p:spTree>
    <p:extLst>
      <p:ext uri="{BB962C8B-B14F-4D97-AF65-F5344CB8AC3E}">
        <p14:creationId xmlns:p14="http://schemas.microsoft.com/office/powerpoint/2010/main" val="1320943320"/>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212121"/>
      </a:dk2>
      <a:lt2>
        <a:srgbClr val="636363"/>
      </a:lt2>
      <a:accent1>
        <a:srgbClr val="F03B5E"/>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33ACF124-275F-44F2-8DE0-0A755069829B}"/>
    </a:ext>
  </a:extLst>
</a:theme>
</file>

<file path=docProps/app.xml><?xml version="1.0" encoding="utf-8"?>
<Properties xmlns="http://schemas.openxmlformats.org/officeDocument/2006/extended-properties" xmlns:vt="http://schemas.openxmlformats.org/officeDocument/2006/docPropsVTypes">
  <Template>Metropolitan</Template>
  <TotalTime>200</TotalTime>
  <Words>579</Words>
  <Application>Microsoft Office PowerPoint</Application>
  <PresentationFormat>A4 Paper (210x297 mm)</PresentationFormat>
  <Paragraphs>121</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Bodoni MT Condensed</vt:lpstr>
      <vt:lpstr>Calibri Light</vt:lpstr>
      <vt:lpstr>Californian FB</vt:lpstr>
      <vt:lpstr>Impact</vt:lpstr>
      <vt:lpstr>Tahoma</vt:lpstr>
      <vt:lpstr>Metropolitan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43</cp:revision>
  <dcterms:created xsi:type="dcterms:W3CDTF">2026-06-06T23:59:41Z</dcterms:created>
  <dcterms:modified xsi:type="dcterms:W3CDTF">2026-06-09T01:12:05Z</dcterms:modified>
</cp:coreProperties>
</file>