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37" r:id="rId1"/>
  </p:sld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03B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2130" y="-2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858000" cy="990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9471" y="1112897"/>
            <a:ext cx="6065044" cy="4842933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0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5476" y="6064369"/>
            <a:ext cx="5190863" cy="2377440"/>
          </a:xfrm>
        </p:spPr>
        <p:txBody>
          <a:bodyPr>
            <a:normAutofit/>
          </a:bodyPr>
          <a:lstStyle>
            <a:lvl1pPr marL="0" indent="0" algn="l">
              <a:buNone/>
              <a:defRPr sz="21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171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2468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471" y="1108494"/>
            <a:ext cx="6064187" cy="484733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0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5475" y="6048286"/>
            <a:ext cx="5189792" cy="2377440"/>
          </a:xfrm>
        </p:spPr>
        <p:txBody>
          <a:bodyPr anchor="t">
            <a:normAutofit/>
          </a:bodyPr>
          <a:lstStyle>
            <a:lvl1pPr marL="0" indent="0">
              <a:buNone/>
              <a:defRPr sz="21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970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619" y="2879344"/>
            <a:ext cx="2854643" cy="5441696"/>
          </a:xfrm>
        </p:spPr>
        <p:txBody>
          <a:bodyPr/>
          <a:lstStyle>
            <a:lvl1pPr>
              <a:defRPr sz="1650"/>
            </a:lvl1pPr>
            <a:lvl2pPr>
              <a:defRPr sz="1425"/>
            </a:lvl2pPr>
            <a:lvl3pPr>
              <a:defRPr sz="1275"/>
            </a:lvl3pPr>
            <a:lvl4pPr>
              <a:defRPr sz="1125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68303" y="2879344"/>
            <a:ext cx="2854643" cy="5441696"/>
          </a:xfrm>
        </p:spPr>
        <p:txBody>
          <a:bodyPr/>
          <a:lstStyle>
            <a:lvl1pPr>
              <a:defRPr sz="1650"/>
            </a:lvl1pPr>
            <a:lvl2pPr>
              <a:defRPr sz="1425"/>
            </a:lvl2pPr>
            <a:lvl3pPr>
              <a:defRPr sz="1275"/>
            </a:lvl3pPr>
            <a:lvl4pPr>
              <a:defRPr sz="1125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840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619" y="2935111"/>
            <a:ext cx="2854643" cy="104491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15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619" y="3952217"/>
            <a:ext cx="2854643" cy="4622800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574732" y="2932176"/>
            <a:ext cx="2854643" cy="1043432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1500" b="0" cap="all" baseline="0"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574732" y="3949192"/>
            <a:ext cx="2854643" cy="4622800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045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282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60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86250" y="0"/>
            <a:ext cx="2571750" cy="990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4647040" y="783296"/>
            <a:ext cx="1903095" cy="27736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27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" y="1100667"/>
            <a:ext cx="3429000" cy="6604000"/>
          </a:xfrm>
        </p:spPr>
        <p:txBody>
          <a:bodyPr/>
          <a:lstStyle>
            <a:lvl1pPr>
              <a:defRPr sz="1650"/>
            </a:lvl1pPr>
            <a:lvl2pPr>
              <a:defRPr sz="1425"/>
            </a:lvl2pPr>
            <a:lvl3pPr>
              <a:defRPr sz="1275"/>
            </a:lvl3pPr>
            <a:lvl4pPr>
              <a:defRPr sz="1125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5240" y="3628175"/>
            <a:ext cx="1911668" cy="4516759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>
                <a:solidFill>
                  <a:srgbClr val="404040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642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188" y="7826966"/>
            <a:ext cx="6064187" cy="885853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21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858000" cy="7700264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rgbClr val="4D4D4D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619" y="8536284"/>
            <a:ext cx="5191506" cy="77046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900"/>
              </a:spcBef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652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923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18473" y="1004358"/>
            <a:ext cx="1478756" cy="6934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33983" y="1031877"/>
            <a:ext cx="4350544" cy="7800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52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9690" y="721548"/>
            <a:ext cx="6059686" cy="2395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404" y="2879346"/>
            <a:ext cx="6048971" cy="5440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763" y="9262423"/>
            <a:ext cx="2314575" cy="330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fld id="{64A32902-01AF-440E-9C03-193C4F014EE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5763" y="9467896"/>
            <a:ext cx="2828925" cy="330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05895" y="8420748"/>
            <a:ext cx="1645920" cy="201794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0" b="0">
                <a:ln>
                  <a:noFill/>
                </a:ln>
                <a:solidFill>
                  <a:schemeClr val="accent1">
                    <a:alpha val="20000"/>
                  </a:schemeClr>
                </a:solidFill>
                <a:latin typeface="+mj-lt"/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5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8" r:id="rId1"/>
    <p:sldLayoutId id="2147484039" r:id="rId2"/>
    <p:sldLayoutId id="2147484040" r:id="rId3"/>
    <p:sldLayoutId id="2147484041" r:id="rId4"/>
    <p:sldLayoutId id="2147484042" r:id="rId5"/>
    <p:sldLayoutId id="2147484043" r:id="rId6"/>
    <p:sldLayoutId id="2147484044" r:id="rId7"/>
    <p:sldLayoutId id="2147484045" r:id="rId8"/>
    <p:sldLayoutId id="2147484046" r:id="rId9"/>
    <p:sldLayoutId id="2147484047" r:id="rId10"/>
    <p:sldLayoutId id="2147484048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05740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ehrdad386/Traffic-Escape-.git" TargetMode="External"/><Relationship Id="rId7" Type="http://schemas.openxmlformats.org/officeDocument/2006/relationships/hyperlink" Target="https://github.com/Mehrdad386/Vending-Machine.git" TargetMode="External"/><Relationship Id="rId2" Type="http://schemas.openxmlformats.org/officeDocument/2006/relationships/hyperlink" Target="https://github.com/Mehrdad386/Wood-Nuts-and-Bolts-Puzzle.gi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ehrdad386/Uni_Shop.git" TargetMode="External"/><Relationship Id="rId5" Type="http://schemas.openxmlformats.org/officeDocument/2006/relationships/hyperlink" Target="https://github.com/Mehrdad386/Final-Fight.git" TargetMode="External"/><Relationship Id="rId4" Type="http://schemas.openxmlformats.org/officeDocument/2006/relationships/hyperlink" Target="https://github.com/Mehrdad386/Rakab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ehrdad386/Heap_Allocater.git" TargetMode="External"/><Relationship Id="rId2" Type="http://schemas.openxmlformats.org/officeDocument/2006/relationships/hyperlink" Target="https://github.com/Mehrdad386/Data-Struc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ehrdad386/10-Python-project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B37F01B-DA59-4CAE-9AE6-1C35A8C8F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87494" y="3183675"/>
            <a:ext cx="1911668" cy="480275"/>
          </a:xfrm>
        </p:spPr>
        <p:txBody>
          <a:bodyPr>
            <a:normAutofit/>
          </a:bodyPr>
          <a:lstStyle/>
          <a:p>
            <a:pPr algn="ctr" rtl="1"/>
            <a:r>
              <a:rPr lang="fa-IR" sz="2400" dirty="0">
                <a:solidFill>
                  <a:srgbClr val="FFFFFF"/>
                </a:solidFill>
                <a:cs typeface="B Titr" panose="00000700000000000000" pitchFamily="2" charset="-78"/>
              </a:rPr>
              <a:t>مهرداد ورمزیار</a:t>
            </a:r>
            <a:endParaRPr lang="en-US" sz="2400" dirty="0">
              <a:solidFill>
                <a:srgbClr val="FFFFFF"/>
              </a:solidFill>
              <a:cs typeface="B Titr" panose="00000700000000000000" pitchFamily="2" charset="-78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C720F06-3892-4C2C-B215-DB621FB7B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748" y="231647"/>
            <a:ext cx="1847160" cy="27732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A027F7F-E55B-4C2E-A596-6A0E21C0B48C}"/>
              </a:ext>
            </a:extLst>
          </p:cNvPr>
          <p:cNvSpPr txBox="1"/>
          <p:nvPr/>
        </p:nvSpPr>
        <p:spPr>
          <a:xfrm>
            <a:off x="4541603" y="3663950"/>
            <a:ext cx="2203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200" b="1" dirty="0">
                <a:latin typeface="Tahoma" panose="020B0604030504040204" pitchFamily="34" charset="0"/>
                <a:ea typeface="Tahoma" panose="020B0604030504040204" pitchFamily="34" charset="0"/>
                <a:cs typeface="B Lotus" panose="00000400000000000000" pitchFamily="2" charset="-78"/>
              </a:rPr>
              <a:t>توسعه دهنده نرم افزار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B Lotus" panose="00000400000000000000" pitchFamily="2" charset="-78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E640023-07B1-425D-9751-CBDB46AFE3DB}"/>
              </a:ext>
            </a:extLst>
          </p:cNvPr>
          <p:cNvGrpSpPr/>
          <p:nvPr/>
        </p:nvGrpSpPr>
        <p:grpSpPr>
          <a:xfrm>
            <a:off x="4719748" y="4148672"/>
            <a:ext cx="1847160" cy="1126276"/>
            <a:chOff x="4719748" y="4148672"/>
            <a:chExt cx="1847160" cy="11262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AAA057D-10F7-4E0B-B76D-FD2B7C148B58}"/>
                </a:ext>
              </a:extLst>
            </p:cNvPr>
            <p:cNvSpPr/>
            <p:nvPr/>
          </p:nvSpPr>
          <p:spPr>
            <a:xfrm>
              <a:off x="4719748" y="4148672"/>
              <a:ext cx="1847160" cy="1126276"/>
            </a:xfrm>
            <a:prstGeom prst="rect">
              <a:avLst/>
            </a:prstGeom>
            <a:solidFill>
              <a:srgbClr val="F03B5E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rtl="1"/>
              <a:r>
                <a:rPr lang="en-US" sz="1100" dirty="0">
                  <a:cs typeface="B Lotus" panose="00000400000000000000" pitchFamily="2" charset="-78"/>
                </a:rPr>
                <a:t>📱</a:t>
              </a:r>
              <a:r>
                <a:rPr lang="fa-IR" sz="1100" dirty="0">
                  <a:cs typeface="B Lotus" panose="00000400000000000000" pitchFamily="2" charset="-78"/>
                </a:rPr>
                <a:t>09223848714</a:t>
              </a:r>
            </a:p>
            <a:p>
              <a:pPr algn="r" rtl="1"/>
              <a:r>
                <a:rPr lang="fa-IR" sz="1100" dirty="0">
                  <a:cs typeface="B Lotus" panose="00000400000000000000" pitchFamily="2" charset="-78"/>
                </a:rPr>
                <a:t>📧</a:t>
              </a:r>
              <a:r>
                <a:rPr lang="en-US" sz="1100" dirty="0">
                  <a:latin typeface="Bodoni MT Condensed" panose="02070606080606020203" pitchFamily="18" charset="0"/>
                  <a:cs typeface="B Lotus" panose="00000400000000000000" pitchFamily="2" charset="-78"/>
                </a:rPr>
                <a:t>mehrdadmrs10@gmail.com</a:t>
              </a:r>
              <a:endParaRPr lang="fa-IR" sz="1100" dirty="0">
                <a:latin typeface="Bodoni MT Condensed" panose="02070606080606020203" pitchFamily="18" charset="0"/>
                <a:cs typeface="B Lotus" panose="00000400000000000000" pitchFamily="2" charset="-78"/>
              </a:endParaRPr>
            </a:p>
            <a:p>
              <a:pPr algn="r" rtl="1"/>
              <a:r>
                <a:rPr lang="fa-IR" sz="1100" dirty="0">
                  <a:cs typeface="B Lotus" panose="00000400000000000000" pitchFamily="2" charset="-78"/>
                </a:rPr>
                <a:t>🏠همدان ، منطقه 1</a:t>
              </a:r>
              <a:br>
                <a:rPr lang="fa-IR" sz="1100" dirty="0">
                  <a:cs typeface="B Lotus" panose="00000400000000000000" pitchFamily="2" charset="-78"/>
                </a:rPr>
              </a:br>
              <a:r>
                <a:rPr lang="en-US" sz="1100" dirty="0">
                  <a:cs typeface="B Lotus" panose="00000400000000000000" pitchFamily="2" charset="-78"/>
                </a:rPr>
                <a:t>   </a:t>
              </a:r>
              <a:r>
                <a:rPr lang="fa-IR" sz="1100" dirty="0">
                  <a:cs typeface="B Lotus" panose="00000400000000000000" pitchFamily="2" charset="-78"/>
                </a:rPr>
                <a:t>   </a:t>
              </a:r>
              <a:r>
                <a:rPr lang="en-US" sz="1100" dirty="0">
                  <a:latin typeface="Bodoni MT Condensed" panose="02070606080606020203" pitchFamily="18" charset="0"/>
                  <a:cs typeface="B Lotus" panose="00000400000000000000" pitchFamily="2" charset="-78"/>
                </a:rPr>
                <a:t>Mehrdad_383</a:t>
              </a:r>
              <a:br>
                <a:rPr lang="fa-IR" sz="1100" dirty="0">
                  <a:latin typeface="Bodoni MT Condensed" panose="02070606080606020203" pitchFamily="18" charset="0"/>
                  <a:cs typeface="B Lotus" panose="00000400000000000000" pitchFamily="2" charset="-78"/>
                </a:rPr>
              </a:br>
              <a:r>
                <a:rPr lang="en-US" sz="1100" dirty="0">
                  <a:cs typeface="B Lotus" panose="00000400000000000000" pitchFamily="2" charset="-78"/>
                </a:rPr>
                <a:t>     </a:t>
              </a:r>
              <a:r>
                <a:rPr lang="fa-IR" sz="1100" dirty="0">
                  <a:cs typeface="B Lotus" panose="00000400000000000000" pitchFamily="2" charset="-78"/>
                </a:rPr>
                <a:t> </a:t>
              </a:r>
              <a:r>
                <a:rPr lang="en-US" sz="1100" dirty="0">
                  <a:latin typeface="Bodoni MT Condensed" panose="02070606080606020203" pitchFamily="18" charset="0"/>
                  <a:cs typeface="B Lotus" panose="00000400000000000000" pitchFamily="2" charset="-78"/>
                </a:rPr>
                <a:t>Mehrdad386</a:t>
              </a:r>
            </a:p>
            <a:p>
              <a:pPr algn="r" rtl="1"/>
              <a:r>
                <a:rPr lang="en-US" sz="1100" dirty="0">
                  <a:latin typeface="Bodoni MT Condensed" panose="02070606080606020203" pitchFamily="18" charset="0"/>
                  <a:cs typeface="B Lotus" panose="00000400000000000000" pitchFamily="2" charset="-78"/>
                </a:rPr>
                <a:t>Mehrdad386       </a:t>
              </a:r>
              <a:r>
                <a:rPr lang="fa-IR" sz="1100" dirty="0">
                  <a:latin typeface="Bodoni MT Condensed" panose="02070606080606020203" pitchFamily="18" charset="0"/>
                  <a:cs typeface="B Lotus" panose="00000400000000000000" pitchFamily="2" charset="-78"/>
                </a:rPr>
                <a:t>  </a:t>
              </a:r>
              <a:endParaRPr lang="en-US" sz="1100" dirty="0">
                <a:latin typeface="Bodoni MT Condensed" panose="02070606080606020203" pitchFamily="18" charset="0"/>
                <a:cs typeface="B Lotus" panose="00000400000000000000" pitchFamily="2" charset="-78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D7E798D-1F7B-408E-B91E-CA65B968F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7143" y="4684467"/>
              <a:ext cx="216612" cy="203149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E8D7053-5F13-45F9-A2B7-5DF5F1781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4209" y="4874786"/>
              <a:ext cx="162479" cy="15238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E9644E9-80FB-4734-B56B-F2CB55DE6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4209" y="5039417"/>
              <a:ext cx="162479" cy="15238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43C1C89-8B4C-4A07-9BF0-BA86D1051E14}"/>
              </a:ext>
            </a:extLst>
          </p:cNvPr>
          <p:cNvSpPr txBox="1"/>
          <p:nvPr/>
        </p:nvSpPr>
        <p:spPr>
          <a:xfrm>
            <a:off x="4853247" y="5482671"/>
            <a:ext cx="1707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a-IR" dirty="0">
                <a:solidFill>
                  <a:srgbClr val="FFFFFF"/>
                </a:solidFill>
                <a:cs typeface="B Titr" panose="00000700000000000000" pitchFamily="2" charset="-78"/>
              </a:rPr>
              <a:t>مهارت ها</a:t>
            </a:r>
            <a:endParaRPr lang="en-US" dirty="0">
              <a:solidFill>
                <a:srgbClr val="FFFFFF"/>
              </a:solidFill>
              <a:cs typeface="B Titr" panose="00000700000000000000" pitchFamily="2" charset="-78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D97112-915C-4383-B07B-0E0D88432320}"/>
              </a:ext>
            </a:extLst>
          </p:cNvPr>
          <p:cNvCxnSpPr>
            <a:cxnSpLocks/>
          </p:cNvCxnSpPr>
          <p:nvPr/>
        </p:nvCxnSpPr>
        <p:spPr>
          <a:xfrm>
            <a:off x="4697027" y="5884896"/>
            <a:ext cx="184716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2E0023-B4C2-4A54-B21E-B948ED1D44E1}"/>
              </a:ext>
            </a:extLst>
          </p:cNvPr>
          <p:cNvSpPr txBox="1"/>
          <p:nvPr/>
        </p:nvSpPr>
        <p:spPr>
          <a:xfrm>
            <a:off x="4777194" y="5998780"/>
            <a:ext cx="17840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برنامه نویسی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نرم افزار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C++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 🟩🟩🟩🟩🟩</a:t>
            </a:r>
            <a:endParaRPr lang="en-US" sz="1000" dirty="0">
              <a:solidFill>
                <a:srgbClr val="FFFFFF"/>
              </a:solidFill>
              <a:cs typeface="B Lotus" panose="00000400000000000000" pitchFamily="2" charset="-78"/>
            </a:endParaRP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Python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🟩🟩🟩⬜⬜</a:t>
            </a:r>
          </a:p>
          <a:p>
            <a:pPr lvl="1" algn="r" rtl="1"/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1A6ECC-BFFC-43A3-B14D-93A3F30E829B}"/>
              </a:ext>
            </a:extLst>
          </p:cNvPr>
          <p:cNvSpPr txBox="1"/>
          <p:nvPr/>
        </p:nvSpPr>
        <p:spPr>
          <a:xfrm>
            <a:off x="4777194" y="6872698"/>
            <a:ext cx="1784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برنامه نویسی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سخت افزار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VHDL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🟩🟩🟩⬜⬜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4C54C5-2C75-478C-BA9A-91DEFFBE6D96}"/>
              </a:ext>
            </a:extLst>
          </p:cNvPr>
          <p:cNvSpPr txBox="1"/>
          <p:nvPr/>
        </p:nvSpPr>
        <p:spPr>
          <a:xfrm>
            <a:off x="4777194" y="7376935"/>
            <a:ext cx="17840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برنامه نویسی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وب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HTML , CSS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🟩🟩🟩⬜⬜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Word press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⬜⬜⬜⬜⬜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6D7841-200C-4C3B-A6D0-77A8605A65EA}"/>
              </a:ext>
            </a:extLst>
          </p:cNvPr>
          <p:cNvSpPr txBox="1"/>
          <p:nvPr/>
        </p:nvSpPr>
        <p:spPr>
          <a:xfrm>
            <a:off x="4777193" y="8247259"/>
            <a:ext cx="1784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امور کامپیوتری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ICDL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🟩🟩🟩🟩🟩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B53C2B-6120-40D9-ABC6-0837EAF2764D}"/>
              </a:ext>
            </a:extLst>
          </p:cNvPr>
          <p:cNvSpPr txBox="1"/>
          <p:nvPr/>
        </p:nvSpPr>
        <p:spPr>
          <a:xfrm>
            <a:off x="4760180" y="8782274"/>
            <a:ext cx="17840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توسعه بازی های کامپیوتری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Construct3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 🟩🟩🟩🟩⬜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7DEAB1D2-7019-4B16-873A-D9D557E5CBB4}"/>
              </a:ext>
            </a:extLst>
          </p:cNvPr>
          <p:cNvSpPr txBox="1">
            <a:spLocks/>
          </p:cNvSpPr>
          <p:nvPr/>
        </p:nvSpPr>
        <p:spPr>
          <a:xfrm>
            <a:off x="2305893" y="231647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👤اطلاعات فردی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7804D5-62BD-434C-B7F8-CD40B56EEC2C}"/>
              </a:ext>
            </a:extLst>
          </p:cNvPr>
          <p:cNvSpPr txBox="1"/>
          <p:nvPr/>
        </p:nvSpPr>
        <p:spPr>
          <a:xfrm>
            <a:off x="0" y="647745"/>
            <a:ext cx="427990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متولد : 1383/10/29</a:t>
            </a:r>
            <a:br>
              <a:rPr lang="fa-IR" sz="1100" dirty="0">
                <a:cs typeface="B Lotus" panose="00000400000000000000" pitchFamily="2" charset="-78"/>
              </a:rPr>
            </a:br>
            <a:r>
              <a:rPr lang="fa-IR" sz="1100" dirty="0">
                <a:cs typeface="B Lotus" panose="00000400000000000000" pitchFamily="2" charset="-78"/>
              </a:rPr>
              <a:t>وضعیت تاهل : مجرد                       وضعیت سربازی : معافیت تحصیلی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100" dirty="0">
              <a:cs typeface="B Lotus" panose="00000400000000000000" pitchFamily="2" charset="-78"/>
            </a:endParaRP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C219DCBF-801D-4938-8DD2-B53B543F8C77}"/>
              </a:ext>
            </a:extLst>
          </p:cNvPr>
          <p:cNvSpPr txBox="1">
            <a:spLocks/>
          </p:cNvSpPr>
          <p:nvPr/>
        </p:nvSpPr>
        <p:spPr>
          <a:xfrm>
            <a:off x="2305893" y="1551770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👁️خلاصه رزومه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87BB15-1240-4609-A908-ACD37C252637}"/>
              </a:ext>
            </a:extLst>
          </p:cNvPr>
          <p:cNvSpPr txBox="1"/>
          <p:nvPr/>
        </p:nvSpPr>
        <p:spPr>
          <a:xfrm>
            <a:off x="1" y="2069384"/>
            <a:ext cx="427990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دانشجوی ترم ششم مهندسی کامپیوتر با معدل الف و سابقه فعالیت در حوزه توسعه بازی‌های رایانه‌ای. دارای تجربه مشارکت در پروژه‌های تجاری و دانشگاهی در زمینه‌های نرم‌افزار، سخت‌افزار و برنامه‌نویسی. علاقه‌مند به توسعه وب و مهندسی نرم‌افزار، با توانایی یادگیری سریع، حل مسئله و کار تیمی. در جستجوی فرصت‌های حرفه‌ای برای به‌کارگیری دانش فنی، کسب تجربه بیشتر و رشد در مسیر توسعه نرم‌افزار.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100" dirty="0">
              <a:cs typeface="B Lotus" panose="00000400000000000000" pitchFamily="2" charset="-78"/>
            </a:endParaRP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E6E07D70-B920-422C-8D9A-D76633604494}"/>
              </a:ext>
            </a:extLst>
          </p:cNvPr>
          <p:cNvSpPr txBox="1">
            <a:spLocks/>
          </p:cNvSpPr>
          <p:nvPr/>
        </p:nvSpPr>
        <p:spPr>
          <a:xfrm>
            <a:off x="2473166" y="3583770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👨‍🎓تحصیلات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19D1D4-894B-4C7D-9A54-EB9C306844C2}"/>
              </a:ext>
            </a:extLst>
          </p:cNvPr>
          <p:cNvSpPr txBox="1"/>
          <p:nvPr/>
        </p:nvSpPr>
        <p:spPr>
          <a:xfrm>
            <a:off x="4719748" y="9336272"/>
            <a:ext cx="17840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زبان های خارجه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English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🟩🟩🟩🟩⬜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582391-29B4-4BDF-B0B7-3559A4717711}"/>
              </a:ext>
            </a:extLst>
          </p:cNvPr>
          <p:cNvSpPr txBox="1"/>
          <p:nvPr/>
        </p:nvSpPr>
        <p:spPr>
          <a:xfrm>
            <a:off x="-1697" y="4143144"/>
            <a:ext cx="42799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400" b="1" dirty="0">
                <a:cs typeface="B Lotus" panose="00000400000000000000" pitchFamily="2" charset="-78"/>
              </a:rPr>
              <a:t>کارشناسی مهندسی کامپیوتر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گرایش : نرم افزار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دانشگاه : بوعلی سینا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شهر : همدان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شروع : مهر 1402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پایان : درحال تحصیل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معدل : 17.36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4EA60EC4-302D-48CC-822E-1D9D7ADC660C}"/>
              </a:ext>
            </a:extLst>
          </p:cNvPr>
          <p:cNvSpPr txBox="1">
            <a:spLocks/>
          </p:cNvSpPr>
          <p:nvPr/>
        </p:nvSpPr>
        <p:spPr>
          <a:xfrm>
            <a:off x="2366535" y="5869972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👨‍💻سوابق شغلی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C11CA3-2C86-4B5D-9398-666A7C0A8020}"/>
              </a:ext>
            </a:extLst>
          </p:cNvPr>
          <p:cNvSpPr txBox="1"/>
          <p:nvPr/>
        </p:nvSpPr>
        <p:spPr>
          <a:xfrm>
            <a:off x="0" y="6583555"/>
            <a:ext cx="427990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400" b="1" dirty="0">
                <a:cs typeface="B Lotus" panose="00000400000000000000" pitchFamily="2" charset="-78"/>
              </a:rPr>
              <a:t>توسعه بازی های رایانه ای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نام شرکت : نوآوران  خلاق پندار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شهر : همدان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شروع همکاری : دی 1402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پایان همکاری : خرداد 1404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وظایف و دست آورد ها :</a:t>
            </a:r>
          </a:p>
          <a:p>
            <a:pPr marL="1085850" lvl="2" indent="-171450" algn="r" rtl="1">
              <a:buFont typeface="Arial" panose="020B0604020202020204" pitchFamily="34" charset="0"/>
              <a:buChar char="•"/>
            </a:pPr>
            <a:r>
              <a:rPr lang="fa-IR" sz="1100" dirty="0">
                <a:cs typeface="B Lotus" panose="00000400000000000000" pitchFamily="2" charset="-78"/>
              </a:rPr>
              <a:t>یادگیری مهارت توسعه بازی با موتور بازی سازی </a:t>
            </a:r>
            <a:r>
              <a:rPr lang="en-US" sz="1100" dirty="0">
                <a:cs typeface="B Lotus" panose="00000400000000000000" pitchFamily="2" charset="-78"/>
              </a:rPr>
              <a:t>Construct3</a:t>
            </a:r>
          </a:p>
          <a:p>
            <a:pPr marL="1085850" lvl="2" indent="-171450" algn="r" rtl="1">
              <a:buFont typeface="Arial" panose="020B0604020202020204" pitchFamily="34" charset="0"/>
              <a:buChar char="•"/>
            </a:pPr>
            <a:r>
              <a:rPr lang="fa-IR" sz="1100" dirty="0">
                <a:cs typeface="B Lotus" panose="00000400000000000000" pitchFamily="2" charset="-78"/>
              </a:rPr>
              <a:t>طراحی 2 بازی رایانه دوبعدی تحت وب</a:t>
            </a:r>
          </a:p>
          <a:p>
            <a:pPr marL="1085850" lvl="2" indent="-171450" algn="r" rtl="1">
              <a:buFont typeface="Arial" panose="020B0604020202020204" pitchFamily="34" charset="0"/>
              <a:buChar char="•"/>
            </a:pPr>
            <a:r>
              <a:rPr lang="fa-IR" sz="1100" dirty="0">
                <a:cs typeface="B Lotus" panose="00000400000000000000" pitchFamily="2" charset="-78"/>
              </a:rPr>
              <a:t>آشنایی با منطق و سیستم توسعه بازی های کامپیوتری</a:t>
            </a:r>
          </a:p>
        </p:txBody>
      </p:sp>
    </p:spTree>
    <p:extLst>
      <p:ext uri="{BB962C8B-B14F-4D97-AF65-F5344CB8AC3E}">
        <p14:creationId xmlns:p14="http://schemas.microsoft.com/office/powerpoint/2010/main" val="3403934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289796AC-6B0C-4DEF-8AB5-2C90A323CC61}"/>
              </a:ext>
            </a:extLst>
          </p:cNvPr>
          <p:cNvSpPr txBox="1">
            <a:spLocks/>
          </p:cNvSpPr>
          <p:nvPr/>
        </p:nvSpPr>
        <p:spPr>
          <a:xfrm>
            <a:off x="4946332" y="313722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🗃️پروژه ها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928D0F-1731-447A-9CBA-F19C2AE0977D}"/>
              </a:ext>
            </a:extLst>
          </p:cNvPr>
          <p:cNvSpPr/>
          <p:nvPr/>
        </p:nvSpPr>
        <p:spPr>
          <a:xfrm>
            <a:off x="3637728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WOOD NUTS AND BOLT PUZZLE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نوآوران خلاق پندار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فروردین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بازی دو بعدی پیاده سازی شده توسط موتور بازی سازی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CONSTRUCT3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C06B64-391A-4B7F-940F-D024FAEDAC2E}"/>
              </a:ext>
            </a:extLst>
          </p:cNvPr>
          <p:cNvSpPr/>
          <p:nvPr/>
        </p:nvSpPr>
        <p:spPr>
          <a:xfrm>
            <a:off x="603065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Traffic Escape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نوآوران خلاق پندار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فروردین 1404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بازی دو بعدی پیاده سازی شده توسط موتور بازی سازی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CONSTRUCT3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E0F78B-E162-46AE-9C7D-F4FA8555FAEE}"/>
              </a:ext>
            </a:extLst>
          </p:cNvPr>
          <p:cNvSpPr/>
          <p:nvPr/>
        </p:nvSpPr>
        <p:spPr>
          <a:xfrm>
            <a:off x="3637728" y="3576925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 err="1">
                <a:latin typeface="Bodoni MT Condensed" panose="02070606080606020203" pitchFamily="18" charset="0"/>
                <a:cs typeface="B Lotus" panose="00000400000000000000" pitchFamily="2" charset="-78"/>
              </a:rPr>
              <a:t>Rakab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تیر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برنامه سازی پیشرفته با زبان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CPP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یک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board game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به صورت </a:t>
            </a:r>
            <a:r>
              <a:rPr lang="en-US" sz="1100" dirty="0" err="1">
                <a:latin typeface="Bodoni MT Condensed" panose="02070606080606020203" pitchFamily="18" charset="0"/>
                <a:cs typeface="B Lotus" panose="00000400000000000000" pitchFamily="2" charset="-78"/>
              </a:rPr>
              <a:t>oop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پیاده سازی شده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42617F-FCFA-4CDD-907D-38944811C4B1}"/>
              </a:ext>
            </a:extLst>
          </p:cNvPr>
          <p:cNvSpPr/>
          <p:nvPr/>
        </p:nvSpPr>
        <p:spPr>
          <a:xfrm>
            <a:off x="603065" y="3576925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Final Fight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دی 1402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مبانی کامپیوتر شامل پیاده سازی یک بازی در ترمینال با زبان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CPP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6EF7CD-72E9-438B-B724-6E07BFC4B6BC}"/>
              </a:ext>
            </a:extLst>
          </p:cNvPr>
          <p:cNvSpPr/>
          <p:nvPr/>
        </p:nvSpPr>
        <p:spPr>
          <a:xfrm>
            <a:off x="3637728" y="6015078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Uni Shop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دی 1404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پایگاه داده شامل پیاده سازی دیتابیس با </a:t>
            </a:r>
            <a:r>
              <a:rPr lang="en-US" sz="1100" dirty="0" err="1">
                <a:latin typeface="Bodoni MT Condensed" panose="02070606080606020203" pitchFamily="18" charset="0"/>
                <a:cs typeface="B Lotus" panose="00000400000000000000" pitchFamily="2" charset="-78"/>
              </a:rPr>
              <a:t>postgresql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و طراحی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EER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و نرم افزار ترمینالی پایتون برای دسترسی راحت تر به دیتابیس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872B2D6-5871-4707-87A1-AA467956BF9C}"/>
              </a:ext>
            </a:extLst>
          </p:cNvPr>
          <p:cNvSpPr/>
          <p:nvPr/>
        </p:nvSpPr>
        <p:spPr>
          <a:xfrm>
            <a:off x="603065" y="6015078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Vending Machine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دی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مدارهای منطقی با زبان سخت افزار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VHDL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50847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928D0F-1731-447A-9CBA-F19C2AE0977D}"/>
              </a:ext>
            </a:extLst>
          </p:cNvPr>
          <p:cNvSpPr/>
          <p:nvPr/>
        </p:nvSpPr>
        <p:spPr>
          <a:xfrm>
            <a:off x="3637728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Data Structures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 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دی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پیاده سازی اساسی ترین ساختمان های داده در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CPP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به عنوان تمارین مستمر درس ساختمان های داده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C06B64-391A-4B7F-940F-D024FAEDAC2E}"/>
              </a:ext>
            </a:extLst>
          </p:cNvPr>
          <p:cNvSpPr/>
          <p:nvPr/>
        </p:nvSpPr>
        <p:spPr>
          <a:xfrm>
            <a:off x="603065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Heap Allocator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خرداد 1404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سیستم های عامل پیاده سازی شده با زبان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E0F78B-E162-46AE-9C7D-F4FA8555FAEE}"/>
              </a:ext>
            </a:extLst>
          </p:cNvPr>
          <p:cNvSpPr/>
          <p:nvPr/>
        </p:nvSpPr>
        <p:spPr>
          <a:xfrm>
            <a:off x="3637728" y="3576925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10 Small Python Projects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شخصی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فروردین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10 عدد پروژه کوچک با زبان پایتون جهت پایان دوره یادگیری این زبان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20943320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F03B5E"/>
      </a:accent1>
      <a:accent2>
        <a:srgbClr val="DC6FEC"/>
      </a:accent2>
      <a:accent3>
        <a:srgbClr val="60B1F2"/>
      </a:accent3>
      <a:accent4>
        <a:srgbClr val="6AD5BB"/>
      </a:accent4>
      <a:accent5>
        <a:srgbClr val="E8AB4E"/>
      </a:accent5>
      <a:accent6>
        <a:srgbClr val="F56447"/>
      </a:accent6>
      <a:hlink>
        <a:srgbClr val="8F8F8F"/>
      </a:hlink>
      <a:folHlink>
        <a:srgbClr val="A5A5A5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33ACF124-275F-44F2-8DE0-0A75506982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124</TotalTime>
  <Words>548</Words>
  <Application>Microsoft Office PowerPoint</Application>
  <PresentationFormat>A4 Paper (210x297 mm)</PresentationFormat>
  <Paragraphs>107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Bodoni MT Condensed</vt:lpstr>
      <vt:lpstr>Calibri Light</vt:lpstr>
      <vt:lpstr>Tahoma</vt:lpstr>
      <vt:lpstr>Metropolitan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21</cp:revision>
  <dcterms:created xsi:type="dcterms:W3CDTF">2026-06-06T23:59:41Z</dcterms:created>
  <dcterms:modified xsi:type="dcterms:W3CDTF">2026-06-07T22:29:03Z</dcterms:modified>
</cp:coreProperties>
</file>