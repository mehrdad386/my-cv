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sldIdLst>
    <p:sldId id="256" r:id="rId2"/>
    <p:sldId id="257" r:id="rId3"/>
    <p:sldId id="258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3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21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471" y="1112897"/>
            <a:ext cx="6065044" cy="4842933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5476" y="6064369"/>
            <a:ext cx="5190863" cy="2377440"/>
          </a:xfrm>
        </p:spPr>
        <p:txBody>
          <a:bodyPr>
            <a:normAutofit/>
          </a:bodyPr>
          <a:lstStyle>
            <a:lvl1pPr marL="0" indent="0" algn="l">
              <a:buNone/>
              <a:defRPr sz="21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71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4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71" y="1108494"/>
            <a:ext cx="6064187" cy="484733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5475" y="6048286"/>
            <a:ext cx="5189792" cy="2377440"/>
          </a:xfrm>
        </p:spPr>
        <p:txBody>
          <a:bodyPr anchor="t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70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0619" y="2879344"/>
            <a:ext cx="2854643" cy="5441696"/>
          </a:xfrm>
        </p:spPr>
        <p:txBody>
          <a:bodyPr/>
          <a:lstStyle>
            <a:lvl1pPr>
              <a:defRPr sz="1650"/>
            </a:lvl1pPr>
            <a:lvl2pPr>
              <a:defRPr sz="1425"/>
            </a:lvl2pPr>
            <a:lvl3pPr>
              <a:defRPr sz="1275"/>
            </a:lvl3pPr>
            <a:lvl4pPr>
              <a:defRPr sz="1125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68303" y="2879344"/>
            <a:ext cx="2854643" cy="5441696"/>
          </a:xfrm>
        </p:spPr>
        <p:txBody>
          <a:bodyPr/>
          <a:lstStyle>
            <a:lvl1pPr>
              <a:defRPr sz="1650"/>
            </a:lvl1pPr>
            <a:lvl2pPr>
              <a:defRPr sz="1425"/>
            </a:lvl2pPr>
            <a:lvl3pPr>
              <a:defRPr sz="1275"/>
            </a:lvl3pPr>
            <a:lvl4pPr>
              <a:defRPr sz="1125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4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619" y="2935111"/>
            <a:ext cx="2854643" cy="104491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5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619" y="3952217"/>
            <a:ext cx="2854643" cy="46228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74732" y="2932176"/>
            <a:ext cx="2854643" cy="1043432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500" b="0" cap="all" baseline="0"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74732" y="3949192"/>
            <a:ext cx="2854643" cy="46228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4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8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6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6250" y="0"/>
            <a:ext cx="2571750" cy="990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647040" y="783296"/>
            <a:ext cx="1903095" cy="277368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27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" y="1100667"/>
            <a:ext cx="3429000" cy="6604000"/>
          </a:xfrm>
        </p:spPr>
        <p:txBody>
          <a:bodyPr/>
          <a:lstStyle>
            <a:lvl1pPr>
              <a:defRPr sz="1650"/>
            </a:lvl1pPr>
            <a:lvl2pPr>
              <a:defRPr sz="1425"/>
            </a:lvl2pPr>
            <a:lvl3pPr>
              <a:defRPr sz="1275"/>
            </a:lvl3pPr>
            <a:lvl4pPr>
              <a:defRPr sz="1125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55240" y="3628175"/>
            <a:ext cx="1911668" cy="4516759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>
                <a:solidFill>
                  <a:srgbClr val="404040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4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88" y="7826966"/>
            <a:ext cx="6064187" cy="88585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1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858000" cy="7700264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rgbClr val="4D4D4D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0619" y="8536284"/>
            <a:ext cx="5191506" cy="77046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900"/>
              </a:spcBef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5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23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18473" y="1004358"/>
            <a:ext cx="1478756" cy="6934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983" y="1031877"/>
            <a:ext cx="4350544" cy="7800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2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9690" y="721548"/>
            <a:ext cx="6059686" cy="2395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404" y="2879346"/>
            <a:ext cx="6048971" cy="5440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763" y="9262423"/>
            <a:ext cx="2314575" cy="330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64A32902-01AF-440E-9C03-193C4F014EE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5763" y="9467896"/>
            <a:ext cx="2828925" cy="330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05895" y="8420748"/>
            <a:ext cx="1645920" cy="20179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7B58C854-9647-4660-9411-6F5402620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5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 spc="-9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05740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hrdad386/Traffic-Escape-.git" TargetMode="External"/><Relationship Id="rId7" Type="http://schemas.openxmlformats.org/officeDocument/2006/relationships/hyperlink" Target="https://github.com/Mehrdad386/Vending-Machine.git" TargetMode="External"/><Relationship Id="rId2" Type="http://schemas.openxmlformats.org/officeDocument/2006/relationships/hyperlink" Target="https://github.com/Mehrdad386/Wood-Nuts-and-Bolts-Puzzle.g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ehrdad386/Uni_Shop.git" TargetMode="External"/><Relationship Id="rId5" Type="http://schemas.openxmlformats.org/officeDocument/2006/relationships/hyperlink" Target="https://github.com/Mehrdad386/Final-Fight.git" TargetMode="External"/><Relationship Id="rId4" Type="http://schemas.openxmlformats.org/officeDocument/2006/relationships/hyperlink" Target="https://github.com/Mehrdad386/Rakab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hrdad386/Heap_Allocater.git" TargetMode="External"/><Relationship Id="rId2" Type="http://schemas.openxmlformats.org/officeDocument/2006/relationships/hyperlink" Target="https://github.com/Mehrdad386/Data-Structur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ehrdad386/DBMS-Storage-Manager.git" TargetMode="External"/><Relationship Id="rId4" Type="http://schemas.openxmlformats.org/officeDocument/2006/relationships/hyperlink" Target="https://github.com/Mehrdad386/10-Python-project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B37F01B-DA59-4CAE-9AE6-1C35A8C8F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87494" y="3183675"/>
            <a:ext cx="1911668" cy="480275"/>
          </a:xfrm>
        </p:spPr>
        <p:txBody>
          <a:bodyPr>
            <a:normAutofit/>
          </a:bodyPr>
          <a:lstStyle/>
          <a:p>
            <a:pPr algn="ctr" rtl="1"/>
            <a:r>
              <a:rPr lang="fa-IR" sz="2400" dirty="0">
                <a:solidFill>
                  <a:srgbClr val="FFFFFF"/>
                </a:solidFill>
                <a:cs typeface="B Titr" panose="00000700000000000000" pitchFamily="2" charset="-78"/>
              </a:rPr>
              <a:t>مهرداد ورمزیار</a:t>
            </a:r>
            <a:endParaRPr lang="en-US" sz="2400" dirty="0">
              <a:solidFill>
                <a:srgbClr val="FFFFFF"/>
              </a:solidFill>
              <a:cs typeface="B Titr" panose="00000700000000000000" pitchFamily="2" charset="-7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720F06-3892-4C2C-B215-DB621FB7B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748" y="231647"/>
            <a:ext cx="1847160" cy="27732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027F7F-E55B-4C2E-A596-6A0E21C0B48C}"/>
              </a:ext>
            </a:extLst>
          </p:cNvPr>
          <p:cNvSpPr txBox="1"/>
          <p:nvPr/>
        </p:nvSpPr>
        <p:spPr>
          <a:xfrm>
            <a:off x="4541603" y="3663950"/>
            <a:ext cx="2203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1200" b="1" dirty="0">
                <a:latin typeface="Tahoma" panose="020B0604030504040204" pitchFamily="34" charset="0"/>
                <a:ea typeface="Tahoma" panose="020B0604030504040204" pitchFamily="34" charset="0"/>
                <a:cs typeface="B Lotus" panose="00000400000000000000" pitchFamily="2" charset="-78"/>
              </a:rPr>
              <a:t>توسعه دهنده نرم افزار</a:t>
            </a:r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B Lotus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640023-07B1-425D-9751-CBDB46AFE3DB}"/>
              </a:ext>
            </a:extLst>
          </p:cNvPr>
          <p:cNvGrpSpPr/>
          <p:nvPr/>
        </p:nvGrpSpPr>
        <p:grpSpPr>
          <a:xfrm>
            <a:off x="4719748" y="4148672"/>
            <a:ext cx="1847160" cy="1126276"/>
            <a:chOff x="4719748" y="4148672"/>
            <a:chExt cx="1847160" cy="11262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AAA057D-10F7-4E0B-B76D-FD2B7C148B58}"/>
                </a:ext>
              </a:extLst>
            </p:cNvPr>
            <p:cNvSpPr/>
            <p:nvPr/>
          </p:nvSpPr>
          <p:spPr>
            <a:xfrm>
              <a:off x="4719748" y="4148672"/>
              <a:ext cx="1847160" cy="1126276"/>
            </a:xfrm>
            <a:prstGeom prst="rect">
              <a:avLst/>
            </a:prstGeom>
            <a:solidFill>
              <a:srgbClr val="F03B5E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rtl="1"/>
              <a:r>
                <a:rPr lang="en-US" sz="1100" b="1" dirty="0">
                  <a:solidFill>
                    <a:schemeClr val="tx1"/>
                  </a:solidFill>
                  <a:cs typeface="B Lotus" panose="00000400000000000000" pitchFamily="2" charset="-78"/>
                </a:rPr>
                <a:t>📱</a:t>
              </a:r>
              <a:r>
                <a:rPr lang="fa-IR" sz="1100" b="1" dirty="0">
                  <a:solidFill>
                    <a:srgbClr val="FFFFFF"/>
                  </a:solidFill>
                  <a:cs typeface="B Lotus" panose="00000400000000000000" pitchFamily="2" charset="-78"/>
                </a:rPr>
                <a:t>09223848714</a:t>
              </a:r>
            </a:p>
            <a:p>
              <a:pPr algn="r" rtl="1"/>
              <a:r>
                <a:rPr lang="fa-IR" sz="1100" b="1" dirty="0">
                  <a:solidFill>
                    <a:schemeClr val="tx1"/>
                  </a:solidFill>
                  <a:cs typeface="B Lotus" panose="00000400000000000000" pitchFamily="2" charset="-78"/>
                </a:rPr>
                <a:t>📧</a:t>
              </a:r>
              <a:r>
                <a:rPr lang="en-US" sz="1100" b="1" dirty="0">
                  <a:solidFill>
                    <a:srgbClr val="FFFFFF"/>
                  </a:solidFill>
                  <a:latin typeface="Bodoni MT Condensed" panose="02070606080606020203" pitchFamily="18" charset="0"/>
                  <a:cs typeface="B Lotus" panose="00000400000000000000" pitchFamily="2" charset="-78"/>
                </a:rPr>
                <a:t>mehrdadmrs10@gmail.com</a:t>
              </a:r>
              <a:endParaRPr lang="fa-IR" sz="1100" b="1" dirty="0">
                <a:solidFill>
                  <a:srgbClr val="FFFFFF"/>
                </a:solidFill>
                <a:latin typeface="Bodoni MT Condensed" panose="02070606080606020203" pitchFamily="18" charset="0"/>
                <a:cs typeface="B Lotus" panose="00000400000000000000" pitchFamily="2" charset="-78"/>
              </a:endParaRPr>
            </a:p>
            <a:p>
              <a:pPr algn="r" rtl="1"/>
              <a:r>
                <a:rPr lang="fa-IR" sz="1100" b="1" dirty="0">
                  <a:solidFill>
                    <a:schemeClr val="tx1"/>
                  </a:solidFill>
                  <a:cs typeface="B Lotus" panose="00000400000000000000" pitchFamily="2" charset="-78"/>
                </a:rPr>
                <a:t>🏠</a:t>
              </a:r>
              <a:r>
                <a:rPr lang="fa-IR" sz="1100" b="1" dirty="0">
                  <a:solidFill>
                    <a:srgbClr val="FFFFFF"/>
                  </a:solidFill>
                  <a:cs typeface="B Lotus" panose="00000400000000000000" pitchFamily="2" charset="-78"/>
                </a:rPr>
                <a:t>همدان ، منطقه 1</a:t>
              </a:r>
              <a:br>
                <a:rPr lang="fa-IR" sz="1100" b="1" dirty="0">
                  <a:solidFill>
                    <a:srgbClr val="FFFFFF"/>
                  </a:solidFill>
                  <a:cs typeface="B Lotus" panose="00000400000000000000" pitchFamily="2" charset="-78"/>
                </a:rPr>
              </a:br>
              <a:r>
                <a:rPr lang="en-US" sz="1100" b="1" dirty="0">
                  <a:solidFill>
                    <a:srgbClr val="FFFFFF"/>
                  </a:solidFill>
                  <a:cs typeface="B Lotus" panose="00000400000000000000" pitchFamily="2" charset="-78"/>
                </a:rPr>
                <a:t>   </a:t>
              </a:r>
              <a:r>
                <a:rPr lang="fa-IR" sz="1100" b="1" dirty="0">
                  <a:solidFill>
                    <a:srgbClr val="FFFFFF"/>
                  </a:solidFill>
                  <a:cs typeface="B Lotus" panose="00000400000000000000" pitchFamily="2" charset="-78"/>
                </a:rPr>
                <a:t>   </a:t>
              </a:r>
              <a:r>
                <a:rPr lang="en-US" sz="1100" b="1" dirty="0">
                  <a:solidFill>
                    <a:srgbClr val="FFFFFF"/>
                  </a:solidFill>
                  <a:latin typeface="Bodoni MT Condensed" panose="02070606080606020203" pitchFamily="18" charset="0"/>
                  <a:cs typeface="B Lotus" panose="00000400000000000000" pitchFamily="2" charset="-78"/>
                </a:rPr>
                <a:t>Mehrdad_383</a:t>
              </a:r>
              <a:br>
                <a:rPr lang="fa-IR" sz="1100" b="1" dirty="0">
                  <a:solidFill>
                    <a:srgbClr val="FFFFFF"/>
                  </a:solidFill>
                  <a:latin typeface="Bodoni MT Condensed" panose="02070606080606020203" pitchFamily="18" charset="0"/>
                  <a:cs typeface="B Lotus" panose="00000400000000000000" pitchFamily="2" charset="-78"/>
                </a:rPr>
              </a:br>
              <a:r>
                <a:rPr lang="en-US" sz="1100" b="1" dirty="0">
                  <a:solidFill>
                    <a:srgbClr val="FFFFFF"/>
                  </a:solidFill>
                  <a:cs typeface="B Lotus" panose="00000400000000000000" pitchFamily="2" charset="-78"/>
                </a:rPr>
                <a:t>     </a:t>
              </a:r>
              <a:r>
                <a:rPr lang="fa-IR" sz="1100" b="1" dirty="0">
                  <a:solidFill>
                    <a:srgbClr val="FFFFFF"/>
                  </a:solidFill>
                  <a:cs typeface="B Lotus" panose="00000400000000000000" pitchFamily="2" charset="-78"/>
                </a:rPr>
                <a:t> </a:t>
              </a:r>
              <a:r>
                <a:rPr lang="en-US" sz="1100" b="1" dirty="0">
                  <a:solidFill>
                    <a:srgbClr val="FFFFFF"/>
                  </a:solidFill>
                  <a:latin typeface="Bodoni MT Condensed" panose="02070606080606020203" pitchFamily="18" charset="0"/>
                  <a:cs typeface="B Lotus" panose="00000400000000000000" pitchFamily="2" charset="-78"/>
                </a:rPr>
                <a:t>Mehrdad386</a:t>
              </a:r>
            </a:p>
            <a:p>
              <a:pPr algn="r" rtl="1"/>
              <a:r>
                <a:rPr lang="en-US" sz="1100" b="1" dirty="0">
                  <a:solidFill>
                    <a:srgbClr val="FFFFFF"/>
                  </a:solidFill>
                  <a:latin typeface="Bodoni MT Condensed" panose="02070606080606020203" pitchFamily="18" charset="0"/>
                  <a:cs typeface="B Lotus" panose="00000400000000000000" pitchFamily="2" charset="-78"/>
                </a:rPr>
                <a:t>Mehrdad386       </a:t>
              </a:r>
              <a:r>
                <a:rPr lang="fa-IR" sz="1100" b="1" dirty="0">
                  <a:solidFill>
                    <a:srgbClr val="FFFFFF"/>
                  </a:solidFill>
                  <a:latin typeface="Bodoni MT Condensed" panose="02070606080606020203" pitchFamily="18" charset="0"/>
                  <a:cs typeface="B Lotus" panose="00000400000000000000" pitchFamily="2" charset="-78"/>
                </a:rPr>
                <a:t>  </a:t>
              </a:r>
              <a:endParaRPr lang="en-US" sz="1100" b="1" dirty="0">
                <a:solidFill>
                  <a:srgbClr val="FFFFFF"/>
                </a:solidFill>
                <a:latin typeface="Bodoni MT Condensed" panose="02070606080606020203" pitchFamily="18" charset="0"/>
                <a:cs typeface="B Lotus" panose="00000400000000000000" pitchFamily="2" charset="-78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D7E798D-1F7B-408E-B91E-CA65B968F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7143" y="4684467"/>
              <a:ext cx="216612" cy="203149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E8D7053-5F13-45F9-A2B7-5DF5F1781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4209" y="4874786"/>
              <a:ext cx="162479" cy="15238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E9644E9-80FB-4734-B56B-F2CB55DE6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4209" y="5039417"/>
              <a:ext cx="162479" cy="15238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43C1C89-8B4C-4A07-9BF0-BA86D1051E14}"/>
              </a:ext>
            </a:extLst>
          </p:cNvPr>
          <p:cNvSpPr txBox="1"/>
          <p:nvPr/>
        </p:nvSpPr>
        <p:spPr>
          <a:xfrm>
            <a:off x="4853247" y="5482671"/>
            <a:ext cx="1707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dirty="0">
                <a:solidFill>
                  <a:srgbClr val="FFFFFF"/>
                </a:solidFill>
                <a:cs typeface="B Titr" panose="00000700000000000000" pitchFamily="2" charset="-78"/>
              </a:rPr>
              <a:t>مهارت ها</a:t>
            </a:r>
            <a:endParaRPr lang="en-US" dirty="0">
              <a:solidFill>
                <a:srgbClr val="FFFFFF"/>
              </a:solidFill>
              <a:cs typeface="B Titr" panose="00000700000000000000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D97112-915C-4383-B07B-0E0D88432320}"/>
              </a:ext>
            </a:extLst>
          </p:cNvPr>
          <p:cNvCxnSpPr>
            <a:cxnSpLocks/>
          </p:cNvCxnSpPr>
          <p:nvPr/>
        </p:nvCxnSpPr>
        <p:spPr>
          <a:xfrm>
            <a:off x="4697027" y="5884896"/>
            <a:ext cx="18471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2E0023-B4C2-4A54-B21E-B948ED1D44E1}"/>
              </a:ext>
            </a:extLst>
          </p:cNvPr>
          <p:cNvSpPr txBox="1"/>
          <p:nvPr/>
        </p:nvSpPr>
        <p:spPr>
          <a:xfrm>
            <a:off x="4278203" y="5998780"/>
            <a:ext cx="25797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برنامه نویسی</a:t>
            </a: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 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نرم افزار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C++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 </a:t>
            </a:r>
            <a:r>
              <a:rPr lang="fa-IR" sz="1000" dirty="0">
                <a:cs typeface="B Lotus" panose="00000400000000000000" pitchFamily="2" charset="-78"/>
              </a:rPr>
              <a:t>🟩🟩🟩🟩🟩</a:t>
            </a:r>
            <a:endParaRPr lang="en-US" sz="1000" dirty="0">
              <a:cs typeface="B Lotus" panose="00000400000000000000" pitchFamily="2" charset="-78"/>
            </a:endParaRP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Python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</a:t>
            </a:r>
            <a:r>
              <a:rPr lang="fa-IR" sz="1000" dirty="0">
                <a:cs typeface="B Lotus" panose="00000400000000000000" pitchFamily="2" charset="-78"/>
              </a:rPr>
              <a:t>🟩🟩🟩⬜⬜</a:t>
            </a:r>
          </a:p>
          <a:p>
            <a:pPr lvl="1" algn="r" rtl="1"/>
            <a:endParaRPr lang="fa-IR" sz="1000" dirty="0">
              <a:solidFill>
                <a:srgbClr val="FFFFFF"/>
              </a:solidFill>
              <a:cs typeface="B Lotus" panose="00000400000000000000" pitchFamily="2" charset="-78"/>
            </a:endParaRP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endParaRPr lang="fa-IR" sz="1000" dirty="0">
              <a:solidFill>
                <a:srgbClr val="FFFFFF"/>
              </a:solidFill>
              <a:cs typeface="B Lotus" panose="00000400000000000000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1A6ECC-BFFC-43A3-B14D-93A3F30E829B}"/>
              </a:ext>
            </a:extLst>
          </p:cNvPr>
          <p:cNvSpPr txBox="1"/>
          <p:nvPr/>
        </p:nvSpPr>
        <p:spPr>
          <a:xfrm>
            <a:off x="4278203" y="6580598"/>
            <a:ext cx="25797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برنامه نویسی</a:t>
            </a: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 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سخت افزار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VHDL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</a:t>
            </a:r>
            <a:r>
              <a:rPr lang="fa-IR" sz="1000" dirty="0">
                <a:cs typeface="B Lotus" panose="00000400000000000000" pitchFamily="2" charset="-78"/>
              </a:rPr>
              <a:t>🟩🟩🟩⬜⬜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endParaRPr lang="fa-IR" sz="1000" dirty="0">
              <a:solidFill>
                <a:srgbClr val="FFFFFF"/>
              </a:solidFill>
              <a:cs typeface="B Lotus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4C54C5-2C75-478C-BA9A-91DEFFBE6D96}"/>
              </a:ext>
            </a:extLst>
          </p:cNvPr>
          <p:cNvSpPr txBox="1"/>
          <p:nvPr/>
        </p:nvSpPr>
        <p:spPr>
          <a:xfrm>
            <a:off x="4278203" y="6976885"/>
            <a:ext cx="25797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برنامه نویسی</a:t>
            </a: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 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وب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HTML , CSS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</a:t>
            </a:r>
            <a:r>
              <a:rPr lang="fa-IR" sz="1000" dirty="0">
                <a:cs typeface="B Lotus" panose="00000400000000000000" pitchFamily="2" charset="-78"/>
              </a:rPr>
              <a:t>🟩🟩🟩⬜⬜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Word press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</a:t>
            </a:r>
            <a:r>
              <a:rPr lang="fa-IR" sz="1000" dirty="0">
                <a:cs typeface="B Lotus" panose="00000400000000000000" pitchFamily="2" charset="-78"/>
              </a:rPr>
              <a:t>⬜⬜⬜⬜⬜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endParaRPr lang="fa-IR" sz="1000" dirty="0">
              <a:solidFill>
                <a:srgbClr val="FFFFFF"/>
              </a:solidFill>
              <a:cs typeface="B Lotus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6D7841-200C-4C3B-A6D0-77A8605A65EA}"/>
              </a:ext>
            </a:extLst>
          </p:cNvPr>
          <p:cNvSpPr txBox="1"/>
          <p:nvPr/>
        </p:nvSpPr>
        <p:spPr>
          <a:xfrm>
            <a:off x="4278203" y="7547048"/>
            <a:ext cx="25797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امور کامپیوتری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ICDL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</a:t>
            </a:r>
            <a:r>
              <a:rPr lang="fa-IR" sz="1000" dirty="0">
                <a:cs typeface="B Lotus" panose="00000400000000000000" pitchFamily="2" charset="-78"/>
              </a:rPr>
              <a:t>🟩🟩🟩🟩🟩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endParaRPr lang="fa-IR" sz="1000" dirty="0">
              <a:solidFill>
                <a:srgbClr val="FFFFFF"/>
              </a:solidFill>
              <a:cs typeface="B Lotus" panose="000004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B53C2B-6120-40D9-ABC6-0837EAF2764D}"/>
              </a:ext>
            </a:extLst>
          </p:cNvPr>
          <p:cNvSpPr txBox="1"/>
          <p:nvPr/>
        </p:nvSpPr>
        <p:spPr>
          <a:xfrm>
            <a:off x="4278203" y="7931374"/>
            <a:ext cx="2579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توسعه بازی های کامپیوتری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Construct3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 </a:t>
            </a:r>
            <a:r>
              <a:rPr lang="fa-IR" sz="1000" dirty="0">
                <a:cs typeface="B Lotus" panose="00000400000000000000" pitchFamily="2" charset="-78"/>
              </a:rPr>
              <a:t>🟩🟩🟩🟩⬜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DEAB1D2-7019-4B16-873A-D9D557E5CBB4}"/>
              </a:ext>
            </a:extLst>
          </p:cNvPr>
          <p:cNvSpPr txBox="1">
            <a:spLocks/>
          </p:cNvSpPr>
          <p:nvPr/>
        </p:nvSpPr>
        <p:spPr>
          <a:xfrm>
            <a:off x="2305893" y="231647"/>
            <a:ext cx="1911668" cy="480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75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a-IR" sz="2400" dirty="0">
                <a:solidFill>
                  <a:srgbClr val="F03B5E"/>
                </a:solidFill>
                <a:cs typeface="B Titr" panose="00000700000000000000" pitchFamily="2" charset="-78"/>
              </a:rPr>
              <a:t>👤اطلاعات فردی</a:t>
            </a:r>
            <a:endParaRPr lang="en-US" sz="2400" dirty="0">
              <a:solidFill>
                <a:srgbClr val="F03B5E"/>
              </a:solidFill>
              <a:cs typeface="B Titr" panose="00000700000000000000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7804D5-62BD-434C-B7F8-CD40B56EEC2C}"/>
              </a:ext>
            </a:extLst>
          </p:cNvPr>
          <p:cNvSpPr txBox="1"/>
          <p:nvPr/>
        </p:nvSpPr>
        <p:spPr>
          <a:xfrm>
            <a:off x="0" y="647745"/>
            <a:ext cx="427990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متولد : 1383/10/29</a:t>
            </a:r>
            <a:br>
              <a:rPr lang="fa-IR" sz="1100" dirty="0">
                <a:cs typeface="B Lotus" panose="00000400000000000000" pitchFamily="2" charset="-78"/>
              </a:rPr>
            </a:br>
            <a:r>
              <a:rPr lang="fa-IR" sz="1100" dirty="0">
                <a:cs typeface="B Lotus" panose="00000400000000000000" pitchFamily="2" charset="-78"/>
              </a:rPr>
              <a:t>وضعیت تاهل : مجرد                       وضعیت سربازی : معافیت تحصیلی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endParaRPr lang="fa-IR" sz="1100" dirty="0">
              <a:cs typeface="B Lotus" panose="00000400000000000000" pitchFamily="2" charset="-78"/>
            </a:endParaRP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C219DCBF-801D-4938-8DD2-B53B543F8C77}"/>
              </a:ext>
            </a:extLst>
          </p:cNvPr>
          <p:cNvSpPr txBox="1">
            <a:spLocks/>
          </p:cNvSpPr>
          <p:nvPr/>
        </p:nvSpPr>
        <p:spPr>
          <a:xfrm>
            <a:off x="2305893" y="1551770"/>
            <a:ext cx="1911668" cy="480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75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a-IR" sz="2400" dirty="0">
                <a:solidFill>
                  <a:srgbClr val="F03B5E"/>
                </a:solidFill>
                <a:cs typeface="B Titr" panose="00000700000000000000" pitchFamily="2" charset="-78"/>
              </a:rPr>
              <a:t>👁️خلاصه رزومه</a:t>
            </a:r>
            <a:endParaRPr lang="en-US" sz="2400" dirty="0">
              <a:solidFill>
                <a:srgbClr val="F03B5E"/>
              </a:solidFill>
              <a:cs typeface="B Titr" panose="00000700000000000000" pitchFamily="2" charset="-7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87BB15-1240-4609-A908-ACD37C252637}"/>
              </a:ext>
            </a:extLst>
          </p:cNvPr>
          <p:cNvSpPr txBox="1"/>
          <p:nvPr/>
        </p:nvSpPr>
        <p:spPr>
          <a:xfrm>
            <a:off x="1" y="2069384"/>
            <a:ext cx="42799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دانشجوی ترم ششم مهندسی کامپیوتر با معدل الف و سابقه فعالیت در حوزه توسعه بازی‌های رایانه‌ای. دارای تجربه مشارکت در پروژه‌های تجاری و دانشگاهی در زمینه‌های نرم‌افزار، سخت‌افزار و برنامه‌نویسی. علاقه‌مند به توسعه وب و مهندسی نرم‌افزار، با توانایی یادگیری سریع، حل مسئله و کار تیمی. در جستجوی فرصت‌های حرفه‌ای برای به‌کارگیری دانش فنی، کسب تجربه بیشتر و رشد در مسیر توسعه نرم‌افزار.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endParaRPr lang="fa-IR" sz="1100" dirty="0">
              <a:cs typeface="B Lotus" panose="00000400000000000000" pitchFamily="2" charset="-78"/>
            </a:endParaRP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E6E07D70-B920-422C-8D9A-D76633604494}"/>
              </a:ext>
            </a:extLst>
          </p:cNvPr>
          <p:cNvSpPr txBox="1">
            <a:spLocks/>
          </p:cNvSpPr>
          <p:nvPr/>
        </p:nvSpPr>
        <p:spPr>
          <a:xfrm>
            <a:off x="2473166" y="3583770"/>
            <a:ext cx="1911668" cy="480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75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a-IR" sz="2400" dirty="0">
                <a:solidFill>
                  <a:srgbClr val="F03B5E"/>
                </a:solidFill>
                <a:cs typeface="B Titr" panose="00000700000000000000" pitchFamily="2" charset="-78"/>
              </a:rPr>
              <a:t>👨‍🎓تحصیلات</a:t>
            </a:r>
            <a:endParaRPr lang="en-US" sz="2400" dirty="0">
              <a:solidFill>
                <a:srgbClr val="F03B5E"/>
              </a:solidFill>
              <a:cs typeface="B Titr" panose="00000700000000000000" pitchFamily="2" charset="-7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19D1D4-894B-4C7D-9A54-EB9C306844C2}"/>
              </a:ext>
            </a:extLst>
          </p:cNvPr>
          <p:cNvSpPr txBox="1"/>
          <p:nvPr/>
        </p:nvSpPr>
        <p:spPr>
          <a:xfrm>
            <a:off x="4278203" y="8352022"/>
            <a:ext cx="2579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زبان های خارجه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English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</a:t>
            </a:r>
            <a:r>
              <a:rPr lang="fa-IR" sz="1000" dirty="0">
                <a:cs typeface="B Lotus" panose="00000400000000000000" pitchFamily="2" charset="-78"/>
              </a:rPr>
              <a:t>🟩🟩🟩🟩⬜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582391-29B4-4BDF-B0B7-3559A4717711}"/>
              </a:ext>
            </a:extLst>
          </p:cNvPr>
          <p:cNvSpPr txBox="1"/>
          <p:nvPr/>
        </p:nvSpPr>
        <p:spPr>
          <a:xfrm>
            <a:off x="-1697" y="4143144"/>
            <a:ext cx="4279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r" rtl="1"/>
            <a:r>
              <a:rPr lang="fa-IR" sz="1400" b="1" dirty="0">
                <a:cs typeface="B Lotus" panose="00000400000000000000" pitchFamily="2" charset="-78"/>
              </a:rPr>
              <a:t>کارشناسی مهندسی کامپیوتر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گرایش : نرم افزار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دانشگاه : بوعلی سینا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شهر : همدان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تاریخ شروع : مهر 1402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تاریخ پایان : درحال تحصیل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معدل : 17.36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EA60EC4-302D-48CC-822E-1D9D7ADC660C}"/>
              </a:ext>
            </a:extLst>
          </p:cNvPr>
          <p:cNvSpPr txBox="1">
            <a:spLocks/>
          </p:cNvSpPr>
          <p:nvPr/>
        </p:nvSpPr>
        <p:spPr>
          <a:xfrm>
            <a:off x="2366535" y="5869972"/>
            <a:ext cx="1911668" cy="4802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75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a-IR" sz="2400" dirty="0">
                <a:solidFill>
                  <a:srgbClr val="F03B5E"/>
                </a:solidFill>
                <a:cs typeface="B Titr" panose="00000700000000000000" pitchFamily="2" charset="-78"/>
              </a:rPr>
              <a:t>👨‍💻سوابق شغلی</a:t>
            </a:r>
            <a:endParaRPr lang="en-US" sz="2400" dirty="0">
              <a:solidFill>
                <a:srgbClr val="F03B5E"/>
              </a:solidFill>
              <a:cs typeface="B Titr" panose="00000700000000000000" pitchFamily="2" charset="-7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C11CA3-2C86-4B5D-9398-666A7C0A8020}"/>
              </a:ext>
            </a:extLst>
          </p:cNvPr>
          <p:cNvSpPr txBox="1"/>
          <p:nvPr/>
        </p:nvSpPr>
        <p:spPr>
          <a:xfrm>
            <a:off x="0" y="6583555"/>
            <a:ext cx="42799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r" rtl="1"/>
            <a:r>
              <a:rPr lang="fa-IR" sz="1400" b="1" dirty="0">
                <a:cs typeface="B Lotus" panose="00000400000000000000" pitchFamily="2" charset="-78"/>
              </a:rPr>
              <a:t>توسعه بازی های رایانه ای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نام شرکت : نوآوران  خلاق پندار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شهر : همدان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تاریخ شروع همکاری : دی 1402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تاریخ پایان همکاری : خرداد 1404</a:t>
            </a:r>
          </a:p>
          <a:p>
            <a:pPr lvl="1" algn="r" rtl="1"/>
            <a:r>
              <a:rPr lang="fa-IR" sz="1100" dirty="0">
                <a:cs typeface="B Lotus" panose="00000400000000000000" pitchFamily="2" charset="-78"/>
              </a:rPr>
              <a:t>وظایف و دست آورد ها :</a:t>
            </a:r>
          </a:p>
          <a:p>
            <a:pPr marL="1085850" lvl="2" indent="-171450" algn="r" rtl="1">
              <a:buFont typeface="Arial" panose="020B0604020202020204" pitchFamily="34" charset="0"/>
              <a:buChar char="•"/>
            </a:pPr>
            <a:r>
              <a:rPr lang="fa-IR" sz="1100" dirty="0">
                <a:cs typeface="B Lotus" panose="00000400000000000000" pitchFamily="2" charset="-78"/>
              </a:rPr>
              <a:t>یادگیری مهارت توسعه بازی با موتور بازی سازی </a:t>
            </a:r>
            <a:r>
              <a:rPr lang="en-US" sz="1100" dirty="0">
                <a:cs typeface="B Lotus" panose="00000400000000000000" pitchFamily="2" charset="-78"/>
              </a:rPr>
              <a:t>Construct3</a:t>
            </a:r>
          </a:p>
          <a:p>
            <a:pPr marL="1085850" lvl="2" indent="-171450" algn="r" rtl="1">
              <a:buFont typeface="Arial" panose="020B0604020202020204" pitchFamily="34" charset="0"/>
              <a:buChar char="•"/>
            </a:pPr>
            <a:r>
              <a:rPr lang="fa-IR" sz="1100" dirty="0">
                <a:cs typeface="B Lotus" panose="00000400000000000000" pitchFamily="2" charset="-78"/>
              </a:rPr>
              <a:t>طراحی 2 بازی رایانه دوبعدی تحت وب</a:t>
            </a:r>
          </a:p>
          <a:p>
            <a:pPr marL="1085850" lvl="2" indent="-171450" algn="r" rtl="1">
              <a:buFont typeface="Arial" panose="020B0604020202020204" pitchFamily="34" charset="0"/>
              <a:buChar char="•"/>
            </a:pPr>
            <a:r>
              <a:rPr lang="fa-IR" sz="1100" dirty="0">
                <a:cs typeface="B Lotus" panose="00000400000000000000" pitchFamily="2" charset="-78"/>
              </a:rPr>
              <a:t>آشنایی با منطق و سیستم توسعه بازی های کامپیوتری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1DF2FE-200D-4EA8-A16D-A191611BD0D6}"/>
              </a:ext>
            </a:extLst>
          </p:cNvPr>
          <p:cNvSpPr txBox="1"/>
          <p:nvPr/>
        </p:nvSpPr>
        <p:spPr>
          <a:xfrm>
            <a:off x="4278202" y="8918385"/>
            <a:ext cx="2579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طراحی پایگاه داده ( </a:t>
            </a:r>
            <a:r>
              <a:rPr lang="en-US" sz="1000" dirty="0">
                <a:solidFill>
                  <a:srgbClr val="FFFFFF"/>
                </a:solidFill>
                <a:cs typeface="B Lotus" panose="00000400000000000000" pitchFamily="2" charset="-78"/>
              </a:rPr>
              <a:t>SQL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)</a:t>
            </a:r>
          </a:p>
          <a:p>
            <a:pPr marL="628650" lvl="1" indent="-171450" algn="r" rtl="1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FFFFFF"/>
                </a:solidFill>
                <a:cs typeface="B Lotus" panose="00000400000000000000" pitchFamily="2" charset="-78"/>
              </a:rPr>
              <a:t>Postgresql</a:t>
            </a:r>
            <a:r>
              <a:rPr lang="fa-IR" sz="1000" dirty="0">
                <a:solidFill>
                  <a:srgbClr val="FFFFFF"/>
                </a:solidFill>
                <a:cs typeface="B Lotus" panose="00000400000000000000" pitchFamily="2" charset="-78"/>
              </a:rPr>
              <a:t> </a:t>
            </a:r>
            <a:r>
              <a:rPr lang="fa-IR" sz="1000" dirty="0">
                <a:cs typeface="B Lotus" panose="00000400000000000000" pitchFamily="2" charset="-78"/>
              </a:rPr>
              <a:t>🟩🟩🟩🟩⬜</a:t>
            </a:r>
          </a:p>
        </p:txBody>
      </p:sp>
    </p:spTree>
    <p:extLst>
      <p:ext uri="{BB962C8B-B14F-4D97-AF65-F5344CB8AC3E}">
        <p14:creationId xmlns:p14="http://schemas.microsoft.com/office/powerpoint/2010/main" val="340393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289796AC-6B0C-4DEF-8AB5-2C90A323CC61}"/>
              </a:ext>
            </a:extLst>
          </p:cNvPr>
          <p:cNvSpPr txBox="1">
            <a:spLocks/>
          </p:cNvSpPr>
          <p:nvPr/>
        </p:nvSpPr>
        <p:spPr>
          <a:xfrm>
            <a:off x="4946332" y="313722"/>
            <a:ext cx="1911668" cy="480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9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75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None/>
              <a:defRPr sz="675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a-IR" sz="2400" dirty="0">
                <a:solidFill>
                  <a:srgbClr val="F03B5E"/>
                </a:solidFill>
                <a:cs typeface="B Titr" panose="00000700000000000000" pitchFamily="2" charset="-78"/>
              </a:rPr>
              <a:t>🗃️پروژه ها</a:t>
            </a:r>
            <a:endParaRPr lang="en-US" sz="2400" dirty="0">
              <a:solidFill>
                <a:srgbClr val="F03B5E"/>
              </a:solidFill>
              <a:cs typeface="B Titr" panose="00000700000000000000" pitchFamily="2" charset="-7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928D0F-1731-447A-9CBA-F19C2AE0977D}"/>
              </a:ext>
            </a:extLst>
          </p:cNvPr>
          <p:cNvSpPr/>
          <p:nvPr/>
        </p:nvSpPr>
        <p:spPr>
          <a:xfrm>
            <a:off x="3637728" y="1138772"/>
            <a:ext cx="2617208" cy="2093378"/>
          </a:xfrm>
          <a:prstGeom prst="rect">
            <a:avLst/>
          </a:prstGeom>
          <a:solidFill>
            <a:srgbClr val="F03B5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b="1" dirty="0">
                <a:latin typeface="Bodoni MT Condensed" panose="02070606080606020203" pitchFamily="18" charset="0"/>
                <a:cs typeface="B Lotus" panose="00000400000000000000" pitchFamily="2" charset="-78"/>
              </a:rPr>
              <a:t>WOOD NUTS AND BOLT PUZZLE</a:t>
            </a:r>
            <a:endParaRPr lang="fa-IR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endParaRPr lang="en-US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کار فرما : نوآوران خلاق پندار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تاریخ : فروردین 1403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توضیحات : بازی دو بعدی پیاده سازی شده توسط موتور بازی سازی </a:t>
            </a:r>
            <a:r>
              <a:rPr lang="en-US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CONSTRUCT3</a:t>
            </a:r>
            <a:endParaRPr lang="fa-IR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لینک :</a:t>
            </a:r>
            <a:endParaRPr lang="en-US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solidFill>
                  <a:srgbClr val="002060"/>
                </a:solidFill>
                <a:latin typeface="Bodoni MT Condensed" panose="02070606080606020203" pitchFamily="18" charset="0"/>
                <a:cs typeface="B Lotus" panose="00000400000000000000" pitchFamily="2" charset="-7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مشاهده پروژه</a:t>
            </a:r>
            <a:endParaRPr lang="fa-IR" sz="1100" dirty="0">
              <a:solidFill>
                <a:srgbClr val="002060"/>
              </a:solidFill>
              <a:latin typeface="Bodoni MT Condensed" panose="02070606080606020203" pitchFamily="18" charset="0"/>
              <a:cs typeface="B Lotus" panose="00000400000000000000" pitchFamily="2" charset="-7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C06B64-391A-4B7F-940F-D024FAEDAC2E}"/>
              </a:ext>
            </a:extLst>
          </p:cNvPr>
          <p:cNvSpPr/>
          <p:nvPr/>
        </p:nvSpPr>
        <p:spPr>
          <a:xfrm>
            <a:off x="603065" y="1138772"/>
            <a:ext cx="2617208" cy="2093378"/>
          </a:xfrm>
          <a:prstGeom prst="rect">
            <a:avLst/>
          </a:prstGeom>
          <a:solidFill>
            <a:srgbClr val="F03B5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b="1" dirty="0">
                <a:latin typeface="Bodoni MT Condensed" panose="02070606080606020203" pitchFamily="18" charset="0"/>
                <a:cs typeface="B Lotus" panose="00000400000000000000" pitchFamily="2" charset="-78"/>
              </a:rPr>
              <a:t>Traffic Escape</a:t>
            </a:r>
            <a:endParaRPr lang="fa-IR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endParaRPr lang="en-US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کار فرما : نوآوران خلاق پندار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تاریخ : فروردین 1404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توضیحات : بازی دو بعدی پیاده سازی شده توسط موتور بازی سازی </a:t>
            </a:r>
            <a:r>
              <a:rPr lang="en-US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CONSTRUCT3</a:t>
            </a:r>
            <a:endParaRPr lang="fa-IR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لینک :</a:t>
            </a:r>
            <a:endParaRPr lang="en-US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solidFill>
                  <a:srgbClr val="002060"/>
                </a:solidFill>
                <a:latin typeface="Bodoni MT Condensed" panose="02070606080606020203" pitchFamily="18" charset="0"/>
                <a:cs typeface="B Lotus" panose="00000400000000000000" pitchFamily="2" charset="-7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مشاهده پروژه</a:t>
            </a:r>
            <a:endParaRPr lang="fa-IR" sz="1100" dirty="0">
              <a:solidFill>
                <a:srgbClr val="002060"/>
              </a:solidFill>
              <a:latin typeface="Bodoni MT Condensed" panose="02070606080606020203" pitchFamily="18" charset="0"/>
              <a:cs typeface="B Lotus" panose="00000400000000000000" pitchFamily="2" charset="-7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E0F78B-E162-46AE-9C7D-F4FA8555FAEE}"/>
              </a:ext>
            </a:extLst>
          </p:cNvPr>
          <p:cNvSpPr/>
          <p:nvPr/>
        </p:nvSpPr>
        <p:spPr>
          <a:xfrm>
            <a:off x="3637728" y="3576925"/>
            <a:ext cx="2617208" cy="2093378"/>
          </a:xfrm>
          <a:prstGeom prst="rect">
            <a:avLst/>
          </a:prstGeom>
          <a:solidFill>
            <a:srgbClr val="F03B5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b="1" dirty="0" err="1">
                <a:latin typeface="Bodoni MT Condensed" panose="02070606080606020203" pitchFamily="18" charset="0"/>
                <a:cs typeface="B Lotus" panose="00000400000000000000" pitchFamily="2" charset="-78"/>
              </a:rPr>
              <a:t>Rakab</a:t>
            </a:r>
            <a:endParaRPr lang="fa-IR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endParaRPr lang="en-US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کار فرما : پروژه دانشگاهیی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تاریخ : تیر 1403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توضیحات : پروژه پایانی درس برنامه سازی پیشرفته با زبان </a:t>
            </a:r>
            <a:r>
              <a:rPr lang="en-US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CPP</a:t>
            </a:r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 یک </a:t>
            </a:r>
            <a:r>
              <a:rPr lang="en-US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board game</a:t>
            </a:r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 به صورت </a:t>
            </a:r>
            <a:r>
              <a:rPr lang="en-US" sz="1100" dirty="0" err="1">
                <a:latin typeface="Bodoni MT Condensed" panose="02070606080606020203" pitchFamily="18" charset="0"/>
                <a:cs typeface="B Lotus" panose="00000400000000000000" pitchFamily="2" charset="-78"/>
              </a:rPr>
              <a:t>oop</a:t>
            </a:r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 پیاده سازی شده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لینک :</a:t>
            </a:r>
            <a:endParaRPr lang="en-US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solidFill>
                  <a:srgbClr val="002060"/>
                </a:solidFill>
                <a:latin typeface="Bodoni MT Condensed" panose="02070606080606020203" pitchFamily="18" charset="0"/>
                <a:cs typeface="B Lotus" panose="00000400000000000000" pitchFamily="2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مشاهده پروژه</a:t>
            </a:r>
            <a:endParaRPr lang="fa-IR" sz="1100" dirty="0">
              <a:solidFill>
                <a:srgbClr val="002060"/>
              </a:solidFill>
              <a:latin typeface="Bodoni MT Condensed" panose="02070606080606020203" pitchFamily="18" charset="0"/>
              <a:cs typeface="B Lotus" panose="00000400000000000000" pitchFamily="2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42617F-FCFA-4CDD-907D-38944811C4B1}"/>
              </a:ext>
            </a:extLst>
          </p:cNvPr>
          <p:cNvSpPr/>
          <p:nvPr/>
        </p:nvSpPr>
        <p:spPr>
          <a:xfrm>
            <a:off x="603065" y="3576925"/>
            <a:ext cx="2617208" cy="2093378"/>
          </a:xfrm>
          <a:prstGeom prst="rect">
            <a:avLst/>
          </a:prstGeom>
          <a:solidFill>
            <a:srgbClr val="F03B5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b="1" dirty="0">
                <a:latin typeface="Bodoni MT Condensed" panose="02070606080606020203" pitchFamily="18" charset="0"/>
                <a:cs typeface="B Lotus" panose="00000400000000000000" pitchFamily="2" charset="-78"/>
              </a:rPr>
              <a:t>Final Fight</a:t>
            </a:r>
            <a:endParaRPr lang="fa-IR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endParaRPr lang="en-US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کار فرما : پروژه دانشگاهیی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تاریخ :</a:t>
            </a:r>
            <a:r>
              <a:rPr lang="en-US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 </a:t>
            </a:r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 دی 1402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توضیحات : پروژه پایانی درس مبانی کامپیوتر شامل پیاده سازی یک بازی در ترمینال با زبان </a:t>
            </a:r>
            <a:r>
              <a:rPr lang="en-US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CPP</a:t>
            </a:r>
            <a:endParaRPr lang="fa-IR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لینک :</a:t>
            </a:r>
            <a:endParaRPr lang="en-US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solidFill>
                  <a:srgbClr val="002060"/>
                </a:solidFill>
                <a:latin typeface="Bodoni MT Condensed" panose="02070606080606020203" pitchFamily="18" charset="0"/>
                <a:cs typeface="B Lotus" panose="00000400000000000000" pitchFamily="2" charset="-7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مشاهده پروژه</a:t>
            </a:r>
            <a:endParaRPr lang="fa-IR" sz="1100" dirty="0">
              <a:solidFill>
                <a:srgbClr val="002060"/>
              </a:solidFill>
              <a:latin typeface="Bodoni MT Condensed" panose="02070606080606020203" pitchFamily="18" charset="0"/>
              <a:cs typeface="B Lotus" panose="00000400000000000000" pitchFamily="2" charset="-7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6EF7CD-72E9-438B-B724-6E07BFC4B6BC}"/>
              </a:ext>
            </a:extLst>
          </p:cNvPr>
          <p:cNvSpPr/>
          <p:nvPr/>
        </p:nvSpPr>
        <p:spPr>
          <a:xfrm>
            <a:off x="3637728" y="6015078"/>
            <a:ext cx="2617208" cy="2093378"/>
          </a:xfrm>
          <a:prstGeom prst="rect">
            <a:avLst/>
          </a:prstGeom>
          <a:solidFill>
            <a:srgbClr val="F03B5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b="1" dirty="0">
                <a:latin typeface="Bodoni MT Condensed" panose="02070606080606020203" pitchFamily="18" charset="0"/>
                <a:cs typeface="B Lotus" panose="00000400000000000000" pitchFamily="2" charset="-78"/>
              </a:rPr>
              <a:t>Uni Shop</a:t>
            </a:r>
            <a:endParaRPr lang="fa-IR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endParaRPr lang="en-US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کار فرما : پروژه دانشگاهیی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تاریخ : دی 1404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توضیحات : پروژه پایانی درس پایگاه داده شامل پیاده سازی دیتابیس با </a:t>
            </a:r>
            <a:r>
              <a:rPr lang="en-US" sz="1100" dirty="0" err="1">
                <a:latin typeface="Bodoni MT Condensed" panose="02070606080606020203" pitchFamily="18" charset="0"/>
                <a:cs typeface="B Lotus" panose="00000400000000000000" pitchFamily="2" charset="-78"/>
              </a:rPr>
              <a:t>postgresql</a:t>
            </a:r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 و طراحی </a:t>
            </a:r>
            <a:r>
              <a:rPr lang="en-US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EER</a:t>
            </a:r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 و نرم افزار ترمینالی پایتون برای دسترسی راحت تر به دیتابیس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لینک :</a:t>
            </a:r>
            <a:endParaRPr lang="en-US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solidFill>
                  <a:srgbClr val="002060"/>
                </a:solidFill>
                <a:latin typeface="Bodoni MT Condensed" panose="02070606080606020203" pitchFamily="18" charset="0"/>
                <a:cs typeface="B Lotus" panose="00000400000000000000" pitchFamily="2" charset="-7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مشاهده پروژه</a:t>
            </a:r>
            <a:endParaRPr lang="fa-IR" sz="1100" dirty="0">
              <a:solidFill>
                <a:srgbClr val="002060"/>
              </a:solidFill>
              <a:latin typeface="Bodoni MT Condensed" panose="02070606080606020203" pitchFamily="18" charset="0"/>
              <a:cs typeface="B Lotus" panose="00000400000000000000" pitchFamily="2" charset="-7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72B2D6-5871-4707-87A1-AA467956BF9C}"/>
              </a:ext>
            </a:extLst>
          </p:cNvPr>
          <p:cNvSpPr/>
          <p:nvPr/>
        </p:nvSpPr>
        <p:spPr>
          <a:xfrm>
            <a:off x="603065" y="6015078"/>
            <a:ext cx="2617208" cy="2093378"/>
          </a:xfrm>
          <a:prstGeom prst="rect">
            <a:avLst/>
          </a:prstGeom>
          <a:solidFill>
            <a:srgbClr val="F03B5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b="1" dirty="0">
                <a:latin typeface="Bodoni MT Condensed" panose="02070606080606020203" pitchFamily="18" charset="0"/>
                <a:cs typeface="B Lotus" panose="00000400000000000000" pitchFamily="2" charset="-78"/>
              </a:rPr>
              <a:t>Vending Machine</a:t>
            </a:r>
            <a:endParaRPr lang="fa-IR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endParaRPr lang="en-US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کار فرما : پروژه دانشگاهیی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تاریخ : دی 1403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توضیحات : پروژه پایانی درس مدارهای منطقی با زبان سخت افزار </a:t>
            </a:r>
            <a:r>
              <a:rPr lang="en-US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VHDL</a:t>
            </a:r>
            <a:endParaRPr lang="fa-IR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لینک :</a:t>
            </a:r>
            <a:endParaRPr lang="en-US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solidFill>
                  <a:srgbClr val="002060"/>
                </a:solidFill>
                <a:latin typeface="Bodoni MT Condensed" panose="02070606080606020203" pitchFamily="18" charset="0"/>
                <a:cs typeface="B Lotus" panose="00000400000000000000" pitchFamily="2" charset="-78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مشاهده پروژه</a:t>
            </a:r>
            <a:endParaRPr lang="fa-IR" sz="1100" dirty="0">
              <a:solidFill>
                <a:srgbClr val="002060"/>
              </a:solidFill>
              <a:latin typeface="Bodoni MT Condensed" panose="02070606080606020203" pitchFamily="18" charset="0"/>
              <a:cs typeface="B 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5084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928D0F-1731-447A-9CBA-F19C2AE0977D}"/>
              </a:ext>
            </a:extLst>
          </p:cNvPr>
          <p:cNvSpPr/>
          <p:nvPr/>
        </p:nvSpPr>
        <p:spPr>
          <a:xfrm>
            <a:off x="3637728" y="1138772"/>
            <a:ext cx="2617208" cy="2093378"/>
          </a:xfrm>
          <a:prstGeom prst="rect">
            <a:avLst/>
          </a:prstGeom>
          <a:solidFill>
            <a:srgbClr val="F03B5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b="1" dirty="0">
                <a:latin typeface="Bodoni MT Condensed" panose="02070606080606020203" pitchFamily="18" charset="0"/>
                <a:cs typeface="B Lotus" panose="00000400000000000000" pitchFamily="2" charset="-78"/>
              </a:rPr>
              <a:t>Data Structures</a:t>
            </a:r>
            <a:endParaRPr lang="fa-IR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endParaRPr lang="en-US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کار فرما : پروژه دانشگاهیی 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تاریخ : دی 1403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توضیحات : پیاده سازی اساسی ترین ساختمان های داده در </a:t>
            </a:r>
            <a:r>
              <a:rPr lang="en-US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CPP</a:t>
            </a:r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 به عنوان تمارین مستمر درس ساختمان های داده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لینک :</a:t>
            </a:r>
            <a:endParaRPr lang="en-US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solidFill>
                  <a:srgbClr val="002060"/>
                </a:solidFill>
                <a:latin typeface="Bodoni MT Condensed" panose="02070606080606020203" pitchFamily="18" charset="0"/>
                <a:cs typeface="B Lotus" panose="00000400000000000000" pitchFamily="2" charset="-7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مشاهده پروژه</a:t>
            </a:r>
            <a:endParaRPr lang="fa-IR" sz="1100" dirty="0">
              <a:solidFill>
                <a:srgbClr val="002060"/>
              </a:solidFill>
              <a:latin typeface="Bodoni MT Condensed" panose="02070606080606020203" pitchFamily="18" charset="0"/>
              <a:cs typeface="B Lotus" panose="00000400000000000000" pitchFamily="2" charset="-7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C06B64-391A-4B7F-940F-D024FAEDAC2E}"/>
              </a:ext>
            </a:extLst>
          </p:cNvPr>
          <p:cNvSpPr/>
          <p:nvPr/>
        </p:nvSpPr>
        <p:spPr>
          <a:xfrm>
            <a:off x="603065" y="1138772"/>
            <a:ext cx="2617208" cy="2093378"/>
          </a:xfrm>
          <a:prstGeom prst="rect">
            <a:avLst/>
          </a:prstGeom>
          <a:solidFill>
            <a:srgbClr val="F03B5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b="1" dirty="0">
                <a:latin typeface="Bodoni MT Condensed" panose="02070606080606020203" pitchFamily="18" charset="0"/>
                <a:cs typeface="B Lotus" panose="00000400000000000000" pitchFamily="2" charset="-78"/>
              </a:rPr>
              <a:t>Heap Allocator</a:t>
            </a:r>
            <a:endParaRPr lang="fa-IR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endParaRPr lang="en-US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کار فرما : پروژه دانشگاهیی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تاریخ : خرداد 1404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توضیحات : پروژه پایانی درس سیستم های عامل پیاده سازی شده با زبان </a:t>
            </a:r>
            <a:r>
              <a:rPr lang="en-US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C</a:t>
            </a:r>
            <a:endParaRPr lang="fa-IR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لینک :</a:t>
            </a:r>
            <a:endParaRPr lang="en-US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solidFill>
                  <a:srgbClr val="002060"/>
                </a:solidFill>
                <a:latin typeface="Bodoni MT Condensed" panose="02070606080606020203" pitchFamily="18" charset="0"/>
                <a:cs typeface="B Lotus" panose="00000400000000000000" pitchFamily="2" charset="-7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مشاهده پروژه</a:t>
            </a:r>
            <a:endParaRPr lang="fa-IR" sz="1100" dirty="0">
              <a:solidFill>
                <a:srgbClr val="002060"/>
              </a:solidFill>
              <a:latin typeface="Bodoni MT Condensed" panose="02070606080606020203" pitchFamily="18" charset="0"/>
              <a:cs typeface="B Lotus" panose="00000400000000000000" pitchFamily="2" charset="-7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E0F78B-E162-46AE-9C7D-F4FA8555FAEE}"/>
              </a:ext>
            </a:extLst>
          </p:cNvPr>
          <p:cNvSpPr/>
          <p:nvPr/>
        </p:nvSpPr>
        <p:spPr>
          <a:xfrm>
            <a:off x="3637728" y="3576925"/>
            <a:ext cx="2617208" cy="2093378"/>
          </a:xfrm>
          <a:prstGeom prst="rect">
            <a:avLst/>
          </a:prstGeom>
          <a:solidFill>
            <a:srgbClr val="F03B5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b="1" dirty="0">
                <a:latin typeface="Bodoni MT Condensed" panose="02070606080606020203" pitchFamily="18" charset="0"/>
                <a:cs typeface="B Lotus" panose="00000400000000000000" pitchFamily="2" charset="-78"/>
              </a:rPr>
              <a:t>10 Small Python Projects</a:t>
            </a:r>
            <a:endParaRPr lang="fa-IR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endParaRPr lang="en-US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کار فرما : پروژه شخصی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تاریخ : فروردین 1403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توضیحات : 10 عدد پروژه کوچک با زبان پایتون جهت پایان دوره یادگیری این زبان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لینک :</a:t>
            </a:r>
            <a:endParaRPr lang="en-US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solidFill>
                  <a:srgbClr val="002060"/>
                </a:solidFill>
                <a:latin typeface="Bodoni MT Condensed" panose="02070606080606020203" pitchFamily="18" charset="0"/>
                <a:cs typeface="B Lotus" panose="00000400000000000000" pitchFamily="2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مشاهده پروژه</a:t>
            </a:r>
            <a:endParaRPr lang="fa-IR" sz="1100" dirty="0">
              <a:solidFill>
                <a:srgbClr val="002060"/>
              </a:solidFill>
              <a:latin typeface="Bodoni MT Condensed" panose="02070606080606020203" pitchFamily="18" charset="0"/>
              <a:cs typeface="B Lotus" panose="00000400000000000000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86DA20-4AE8-45F1-88B0-0D5D234498A0}"/>
              </a:ext>
            </a:extLst>
          </p:cNvPr>
          <p:cNvSpPr/>
          <p:nvPr/>
        </p:nvSpPr>
        <p:spPr>
          <a:xfrm>
            <a:off x="603065" y="3576925"/>
            <a:ext cx="2617208" cy="2093378"/>
          </a:xfrm>
          <a:prstGeom prst="rect">
            <a:avLst/>
          </a:prstGeom>
          <a:solidFill>
            <a:srgbClr val="F03B5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b="1" dirty="0">
                <a:latin typeface="Bodoni MT Condensed" panose="02070606080606020203" pitchFamily="18" charset="0"/>
                <a:cs typeface="B Lotus" panose="00000400000000000000" pitchFamily="2" charset="-78"/>
              </a:rPr>
              <a:t>DBMS Storage manager</a:t>
            </a:r>
            <a:endParaRPr lang="fa-IR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endParaRPr lang="en-US" sz="1400" b="1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کار فرما : پروژه دانشگاهی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تاریخ : اردیبهشت 1405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توضیحات : پیاده سازی سیستم مدریت پایگاه داده با زبان </a:t>
            </a:r>
            <a:r>
              <a:rPr lang="en-US" sz="1100" dirty="0" err="1">
                <a:latin typeface="Bodoni MT Condensed" panose="02070606080606020203" pitchFamily="18" charset="0"/>
                <a:cs typeface="B Lotus" panose="00000400000000000000" pitchFamily="2" charset="-78"/>
              </a:rPr>
              <a:t>cpp</a:t>
            </a:r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 ( مینی پروژه درس پیاده سازی سیستم های پایگاه داده)</a:t>
            </a:r>
          </a:p>
          <a:p>
            <a:pPr algn="r" rtl="1"/>
            <a:r>
              <a:rPr lang="fa-IR" sz="1100" dirty="0">
                <a:latin typeface="Bodoni MT Condensed" panose="02070606080606020203" pitchFamily="18" charset="0"/>
                <a:cs typeface="B Lotus" panose="00000400000000000000" pitchFamily="2" charset="-78"/>
              </a:rPr>
              <a:t>لینک :</a:t>
            </a:r>
            <a:endParaRPr lang="en-US" sz="1100" dirty="0">
              <a:latin typeface="Bodoni MT Condensed" panose="02070606080606020203" pitchFamily="18" charset="0"/>
              <a:cs typeface="B Lotus" panose="00000400000000000000" pitchFamily="2" charset="-78"/>
            </a:endParaRPr>
          </a:p>
          <a:p>
            <a:pPr algn="r" rtl="1"/>
            <a:r>
              <a:rPr lang="fa-IR" sz="1100" dirty="0">
                <a:solidFill>
                  <a:srgbClr val="002060"/>
                </a:solidFill>
                <a:latin typeface="Bodoni MT Condensed" panose="02070606080606020203" pitchFamily="18" charset="0"/>
                <a:cs typeface="B Lotus" panose="00000400000000000000" pitchFamily="2" charset="-7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مشاهده پروژه</a:t>
            </a:r>
            <a:endParaRPr lang="fa-IR" sz="1100" dirty="0">
              <a:solidFill>
                <a:srgbClr val="002060"/>
              </a:solidFill>
              <a:latin typeface="Bodoni MT Condensed" panose="02070606080606020203" pitchFamily="18" charset="0"/>
              <a:cs typeface="B 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2094332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3ACF124-275F-44F2-8DE0-0A75506982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133</TotalTime>
  <Words>595</Words>
  <Application>Microsoft Office PowerPoint</Application>
  <PresentationFormat>A4 Paper (210x297 mm)</PresentationFormat>
  <Paragraphs>116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Bodoni MT Condensed</vt:lpstr>
      <vt:lpstr>Calibri Light</vt:lpstr>
      <vt:lpstr>Tahoma</vt:lpstr>
      <vt:lpstr>Metropolitan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26</cp:revision>
  <dcterms:created xsi:type="dcterms:W3CDTF">2026-06-06T23:59:41Z</dcterms:created>
  <dcterms:modified xsi:type="dcterms:W3CDTF">2026-06-09T00:02:31Z</dcterms:modified>
</cp:coreProperties>
</file>